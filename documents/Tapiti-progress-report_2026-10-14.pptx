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Inherited setup (first run)</c:v>
                </c:pt>
              </c:strCache>
            </c:strRef>
          </c:tx>
          <c:spPr>
            <a:solidFill>
              <a:srgbClr val="9B9A94"/>
            </a:solidFill>
            <a:ln>
              <a:solidFill>
                <a:srgbClr val="9B9A94"/>
              </a:solidFill>
            </a:ln>
          </c:spPr>
          <c:invertIfNegative val="0"/>
          <c:cat>
            <c:strRef>
              <c:f>Sheet1!$A$2:$A$6</c:f>
              <c:strCache>
                <c:ptCount val="5"/>
                <c:pt idx="0">
                  <c:v>Soya</c:v>
                </c:pt>
                <c:pt idx="1">
                  <c:v>Maíz</c:v>
                </c:pt>
                <c:pt idx="2">
                  <c:v>Arroz</c:v>
                </c:pt>
                <c:pt idx="3">
                  <c:v>Sorgo</c:v>
                </c:pt>
                <c:pt idx="4">
                  <c:v>Trigo</c:v>
                </c:pt>
              </c:strCache>
            </c:strRef>
          </c:cat>
          <c:val>
            <c:numRef>
              <c:f>Sheet1!$B$2:$B$6</c:f>
              <c:numCache>
                <c:formatCode>General</c:formatCode>
                <c:ptCount val="5"/>
                <c:pt idx="0">
                  <c:v>1.01</c:v>
                </c:pt>
                <c:pt idx="1">
                  <c:v>2.54</c:v>
                </c:pt>
                <c:pt idx="2">
                  <c:v>1.87</c:v>
                </c:pt>
                <c:pt idx="3">
                  <c:v>1.42</c:v>
                </c:pt>
                <c:pt idx="4">
                  <c:v>2.24</c:v>
                </c:pt>
              </c:numCache>
            </c:numRef>
          </c:val>
        </c:ser>
        <c:ser>
          <c:idx val="1"/>
          <c:order val="1"/>
          <c:tx>
            <c:strRef>
              <c:f>Sheet1!$C$1</c:f>
              <c:strCache>
                <c:ptCount val="1"/>
                <c:pt idx="0">
                  <c:v>Phase 2 reference run</c:v>
                </c:pt>
              </c:strCache>
            </c:strRef>
          </c:tx>
          <c:spPr>
            <a:solidFill>
              <a:srgbClr val="2C5F2D"/>
            </a:solidFill>
            <a:ln>
              <a:solidFill>
                <a:srgbClr val="2C5F2D"/>
              </a:solidFill>
            </a:ln>
          </c:spPr>
          <c:invertIfNegative val="0"/>
          <c:cat>
            <c:strRef>
              <c:f>Sheet1!$A$2:$A$6</c:f>
              <c:strCache>
                <c:ptCount val="5"/>
                <c:pt idx="0">
                  <c:v>Soya</c:v>
                </c:pt>
                <c:pt idx="1">
                  <c:v>Maíz</c:v>
                </c:pt>
                <c:pt idx="2">
                  <c:v>Arroz</c:v>
                </c:pt>
                <c:pt idx="3">
                  <c:v>Sorgo</c:v>
                </c:pt>
                <c:pt idx="4">
                  <c:v>Trigo</c:v>
                </c:pt>
              </c:strCache>
            </c:strRef>
          </c:cat>
          <c:val>
            <c:numRef>
              <c:f>Sheet1!$C$2:$C$6</c:f>
              <c:numCache>
                <c:formatCode>General</c:formatCode>
                <c:ptCount val="5"/>
                <c:pt idx="0">
                  <c:v>0.93</c:v>
                </c:pt>
                <c:pt idx="1">
                  <c:v>1.19</c:v>
                </c:pt>
                <c:pt idx="2">
                  <c:v>0.95</c:v>
                </c:pt>
                <c:pt idx="3">
                  <c:v>0.96</c:v>
                </c:pt>
                <c:pt idx="4">
                  <c:v>1.67</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4E3DD"/>
            </a:solidFill>
          </a:ln>
        </c:spPr>
        <c:txPr>
          <a:bodyPr/>
          <a:lstStyle/>
          <a:p>
            <a:pPr>
              <a:defRPr sz="1000">
                <a:solidFill>
                  <a:srgbClr val="6B6A66"/>
                </a:solidFill>
              </a:defRPr>
            </a:pPr>
          </a:p>
        </c:txPr>
        <c:crossAx val="-2113994440"/>
        <c:crosses val="autoZero"/>
        <c:auto val="1"/>
        <c:lblAlgn val="ctr"/>
        <c:lblOffset val="100"/>
        <c:noMultiLvlLbl val="0"/>
      </c:catAx>
      <c:valAx>
        <c:axId val="-2113994440"/>
        <c:scaling>
          <c:max val="3.0"/>
          <c:min val="0.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068027336"/>
        <c:crosses val="autoZero"/>
        <c:majorUnit val="0.5"/>
      </c:valAx>
    </c:plotArea>
    <c:legend>
      <c:legendPos val="b"/>
      <c:overlay val="0"/>
      <c:txPr>
        <a:bodyPr/>
        <a:lstStyle/>
        <a:p>
          <a:pPr>
            <a:defRPr sz="1000"/>
          </a:pPr>
        </a:p>
      </c:txPr>
    </c:legend>
    <c:dispBlanksAs val="gap"/>
  </c:chart>
  <c:txPr>
    <a:bodyPr/>
    <a:lstStyle/>
    <a:p>
      <a:pPr>
        <a:defRPr sz="1000">
          <a:solidFill>
            <a:srgbClr val="1A1A1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Inherited setup</c:v>
                </c:pt>
              </c:strCache>
            </c:strRef>
          </c:tx>
          <c:spPr>
            <a:solidFill>
              <a:srgbClr val="9B9A94"/>
            </a:solidFill>
            <a:ln>
              <a:solidFill>
                <a:srgbClr val="9B9A94"/>
              </a:solidFill>
            </a:ln>
          </c:spPr>
          <c:invertIfNegative val="0"/>
          <c:cat>
            <c:strRef>
              <c:f>Sheet1!$A$2:$A$6</c:f>
              <c:strCache>
                <c:ptCount val="5"/>
                <c:pt idx="0">
                  <c:v>Soya</c:v>
                </c:pt>
                <c:pt idx="1">
                  <c:v>Maíz</c:v>
                </c:pt>
                <c:pt idx="2">
                  <c:v>Arroz</c:v>
                </c:pt>
                <c:pt idx="3">
                  <c:v>Sorgo</c:v>
                </c:pt>
                <c:pt idx="4">
                  <c:v>Trigo</c:v>
                </c:pt>
              </c:strCache>
            </c:strRef>
          </c:cat>
          <c:val>
            <c:numRef>
              <c:f>Sheet1!$B$2:$B$6</c:f>
              <c:numCache>
                <c:formatCode>General</c:formatCode>
                <c:ptCount val="5"/>
                <c:pt idx="0">
                  <c:v>0.37</c:v>
                </c:pt>
                <c:pt idx="1">
                  <c:v>0.61</c:v>
                </c:pt>
                <c:pt idx="2">
                  <c:v>0.58</c:v>
                </c:pt>
                <c:pt idx="3">
                  <c:v>0.81</c:v>
                </c:pt>
                <c:pt idx="4">
                  <c:v>0.73</c:v>
                </c:pt>
              </c:numCache>
            </c:numRef>
          </c:val>
        </c:ser>
        <c:ser>
          <c:idx val="1"/>
          <c:order val="1"/>
          <c:tx>
            <c:strRef>
              <c:f>Sheet1!$C$1</c:f>
              <c:strCache>
                <c:ptCount val="1"/>
                <c:pt idx="0">
                  <c:v>Phase 2 reference run</c:v>
                </c:pt>
              </c:strCache>
            </c:strRef>
          </c:tx>
          <c:spPr>
            <a:solidFill>
              <a:srgbClr val="2C5F2D"/>
            </a:solidFill>
            <a:ln>
              <a:solidFill>
                <a:srgbClr val="2C5F2D"/>
              </a:solidFill>
            </a:ln>
          </c:spPr>
          <c:invertIfNegative val="0"/>
          <c:cat>
            <c:strRef>
              <c:f>Sheet1!$A$2:$A$6</c:f>
              <c:strCache>
                <c:ptCount val="5"/>
                <c:pt idx="0">
                  <c:v>Soya</c:v>
                </c:pt>
                <c:pt idx="1">
                  <c:v>Maíz</c:v>
                </c:pt>
                <c:pt idx="2">
                  <c:v>Arroz</c:v>
                </c:pt>
                <c:pt idx="3">
                  <c:v>Sorgo</c:v>
                </c:pt>
                <c:pt idx="4">
                  <c:v>Trigo</c:v>
                </c:pt>
              </c:strCache>
            </c:strRef>
          </c:cat>
          <c:val>
            <c:numRef>
              <c:f>Sheet1!$C$2:$C$6</c:f>
              <c:numCache>
                <c:formatCode>General</c:formatCode>
                <c:ptCount val="5"/>
                <c:pt idx="0">
                  <c:v>0.28</c:v>
                </c:pt>
                <c:pt idx="1">
                  <c:v>0.42</c:v>
                </c:pt>
                <c:pt idx="2">
                  <c:v>0.66</c:v>
                </c:pt>
                <c:pt idx="3">
                  <c:v>0.76</c:v>
                </c:pt>
                <c:pt idx="4">
                  <c:v>0.71</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4E3DD"/>
            </a:solidFill>
          </a:ln>
        </c:spPr>
        <c:txPr>
          <a:bodyPr/>
          <a:lstStyle/>
          <a:p>
            <a:pPr>
              <a:defRPr sz="1000">
                <a:solidFill>
                  <a:srgbClr val="6B6A66"/>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068027336"/>
        <c:crosses val="autoZero"/>
        <c:majorUnit val="0.2"/>
      </c:valAx>
    </c:plotArea>
    <c:legend>
      <c:legendPos val="b"/>
      <c:overlay val="0"/>
      <c:txPr>
        <a:bodyPr/>
        <a:lstStyle/>
        <a:p>
          <a:pPr>
            <a:defRPr sz="1000"/>
          </a:pPr>
        </a:p>
      </c:txPr>
    </c:legend>
    <c:dispBlanksAs val="gap"/>
  </c:chart>
  <c:txPr>
    <a:bodyPr/>
    <a:lstStyle/>
    <a:p>
      <a:pPr>
        <a:defRPr sz="1000">
          <a:solidFill>
            <a:srgbClr val="1A1A19"/>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t>Sorgo, kg/ha dry matter — ratio 0.96, r 0.76</a:t>
            </a:r>
          </a:p>
        </c:rich>
      </c:tx>
      <c:layout/>
      <c:overlay val="0"/>
    </c:title>
    <c:autoTitleDeleted val="0"/>
    <c:plotArea>
      <c:lineChart>
        <c:grouping val="standard"/>
        <c:varyColors val="0"/>
        <c:ser>
          <c:idx val="0"/>
          <c:order val="0"/>
          <c:tx>
            <c:strRef>
              <c:f>Sheet1!$B$1</c:f>
              <c:strCache>
                <c:ptCount val="1"/>
                <c:pt idx="0">
                  <c:v>INE (converted to dry matter)</c:v>
                </c:pt>
              </c:strCache>
            </c:strRef>
          </c:tx>
          <c:spPr>
            <a:solidFill>
              <a:srgbClr val="1A1A19"/>
            </a:solidFill>
            <a:ln w="28575">
              <a:solidFill>
                <a:srgbClr val="1A1A19"/>
              </a:solidFill>
            </a:ln>
          </c:spPr>
          <c:marker>
            <c:size val="7"/>
          </c:marker>
          <c:cat>
            <c:strRef>
              <c:f>Sheet1!$A$2:$A$14</c:f>
              <c:strCach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strCache>
            </c:strRef>
          </c:cat>
          <c:val>
            <c:numRef>
              <c:f>Sheet1!$B$2:$B$14</c:f>
              <c:numCache>
                <c:formatCode>General</c:formatCode>
                <c:ptCount val="13"/>
                <c:pt idx="0">
                  <c:v>2115.0</c:v>
                </c:pt>
                <c:pt idx="1">
                  <c:v>2010.0</c:v>
                </c:pt>
                <c:pt idx="2">
                  <c:v>2583.0</c:v>
                </c:pt>
                <c:pt idx="3">
                  <c:v>2468.0</c:v>
                </c:pt>
                <c:pt idx="4">
                  <c:v>1532.0</c:v>
                </c:pt>
                <c:pt idx="5">
                  <c:v>2318.0</c:v>
                </c:pt>
                <c:pt idx="6">
                  <c:v>2000.0</c:v>
                </c:pt>
                <c:pt idx="7">
                  <c:v>1904.0</c:v>
                </c:pt>
                <c:pt idx="8">
                  <c:v>2552.0</c:v>
                </c:pt>
                <c:pt idx="9">
                  <c:v>904.0</c:v>
                </c:pt>
                <c:pt idx="10">
                  <c:v>1436.0</c:v>
                </c:pt>
                <c:pt idx="11">
                  <c:v>2443.0</c:v>
                </c:pt>
                <c:pt idx="12">
                  <c:v>992.0</c:v>
                </c:pt>
              </c:numCache>
            </c:numRef>
          </c:val>
          <c:smooth val="0"/>
        </c:ser>
        <c:ser>
          <c:idx val="1"/>
          <c:order val="1"/>
          <c:tx>
            <c:strRef>
              <c:f>Sheet1!$C$1</c:f>
              <c:strCache>
                <c:ptCount val="1"/>
                <c:pt idx="0">
                  <c:v>Tapiti</c:v>
                </c:pt>
              </c:strCache>
            </c:strRef>
          </c:tx>
          <c:spPr>
            <a:solidFill>
              <a:srgbClr val="2C5F2D"/>
            </a:solidFill>
            <a:ln w="28575">
              <a:solidFill>
                <a:srgbClr val="2C5F2D"/>
              </a:solidFill>
            </a:ln>
          </c:spPr>
          <c:marker>
            <c:size val="7"/>
          </c:marker>
          <c:cat>
            <c:strRef>
              <c:f>Sheet1!$A$2:$A$14</c:f>
              <c:strCach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strCache>
            </c:strRef>
          </c:cat>
          <c:val>
            <c:numRef>
              <c:f>Sheet1!$C$2:$C$14</c:f>
              <c:numCache>
                <c:formatCode>General</c:formatCode>
                <c:ptCount val="13"/>
                <c:pt idx="0">
                  <c:v>2537.0</c:v>
                </c:pt>
                <c:pt idx="1">
                  <c:v>1996.0</c:v>
                </c:pt>
                <c:pt idx="2">
                  <c:v>2616.0</c:v>
                </c:pt>
                <c:pt idx="3">
                  <c:v>2180.0</c:v>
                </c:pt>
                <c:pt idx="4">
                  <c:v>936.0</c:v>
                </c:pt>
                <c:pt idx="5">
                  <c:v>2468.0</c:v>
                </c:pt>
                <c:pt idx="6">
                  <c:v>1089.0</c:v>
                </c:pt>
                <c:pt idx="7">
                  <c:v>2009.0</c:v>
                </c:pt>
                <c:pt idx="8">
                  <c:v>2287.0</c:v>
                </c:pt>
                <c:pt idx="9">
                  <c:v>1378.0</c:v>
                </c:pt>
                <c:pt idx="10">
                  <c:v>966.0</c:v>
                </c:pt>
                <c:pt idx="11">
                  <c:v>2331.0</c:v>
                </c:pt>
                <c:pt idx="12">
                  <c:v>1367.0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4E3DD"/>
            </a:solidFill>
          </a:ln>
        </c:spPr>
        <c:txPr>
          <a:bodyPr/>
          <a:lstStyle/>
          <a:p>
            <a:pPr>
              <a:defRPr sz="1000">
                <a:solidFill>
                  <a:srgbClr val="6B6A66"/>
                </a:solidFill>
              </a:defRPr>
            </a:pPr>
          </a:p>
        </c:txPr>
        <c:crossAx val="2140495176"/>
        <c:crosses val="autoZero"/>
        <c:auto val="1"/>
        <c:lblAlgn val="ctr"/>
        <c:lblOffset val="100"/>
        <c:noMultiLvlLbl val="0"/>
      </c:catAx>
      <c:valAx>
        <c:axId val="2140495176"/>
        <c:scaling>
          <c:min val="0.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solidFill>
            <a:srgbClr val="1A1A19"/>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t>Maíz, kg/ha dry matter — ratio 1.19, r 0.42</a:t>
            </a:r>
          </a:p>
        </c:rich>
      </c:tx>
      <c:layout/>
      <c:overlay val="0"/>
    </c:title>
    <c:autoTitleDeleted val="0"/>
    <c:plotArea>
      <c:lineChart>
        <c:grouping val="standard"/>
        <c:varyColors val="0"/>
        <c:ser>
          <c:idx val="0"/>
          <c:order val="0"/>
          <c:tx>
            <c:strRef>
              <c:f>Sheet1!$B$1</c:f>
              <c:strCache>
                <c:ptCount val="1"/>
                <c:pt idx="0">
                  <c:v>INE (converted to dry matter)</c:v>
                </c:pt>
              </c:strCache>
            </c:strRef>
          </c:tx>
          <c:spPr>
            <a:solidFill>
              <a:srgbClr val="1A1A19"/>
            </a:solidFill>
            <a:ln w="28575">
              <a:solidFill>
                <a:srgbClr val="1A1A19"/>
              </a:solidFill>
            </a:ln>
          </c:spPr>
          <c:marker>
            <c:size val="7"/>
          </c:marker>
          <c:cat>
            <c:strRef>
              <c:f>Sheet1!$A$2:$A$13</c:f>
              <c:strCache>
                <c:ptCount val="12"/>
                <c:pt idx="0">
                  <c:v>2012/13</c:v>
                </c:pt>
                <c:pt idx="1">
                  <c:v>2013/14</c:v>
                </c:pt>
                <c:pt idx="2">
                  <c:v>2014/15</c:v>
                </c:pt>
                <c:pt idx="3">
                  <c:v>2015/16</c:v>
                </c:pt>
                <c:pt idx="4">
                  <c:v>2016/17</c:v>
                </c:pt>
                <c:pt idx="5">
                  <c:v>2017/18</c:v>
                </c:pt>
                <c:pt idx="6">
                  <c:v>2018/19</c:v>
                </c:pt>
                <c:pt idx="7">
                  <c:v>2019/20</c:v>
                </c:pt>
                <c:pt idx="8">
                  <c:v>2020/21</c:v>
                </c:pt>
                <c:pt idx="9">
                  <c:v>2021/22</c:v>
                </c:pt>
                <c:pt idx="10">
                  <c:v>2022/23</c:v>
                </c:pt>
                <c:pt idx="11">
                  <c:v>2023/24</c:v>
                </c:pt>
              </c:strCache>
            </c:strRef>
          </c:cat>
          <c:val>
            <c:numRef>
              <c:f>Sheet1!$B$2:$B$13</c:f>
              <c:numCache>
                <c:formatCode>General</c:formatCode>
                <c:ptCount val="12"/>
                <c:pt idx="0">
                  <c:v>1689.0</c:v>
                </c:pt>
                <c:pt idx="1">
                  <c:v>1804.0</c:v>
                </c:pt>
                <c:pt idx="2">
                  <c:v>2080.0</c:v>
                </c:pt>
                <c:pt idx="3">
                  <c:v>1961.0</c:v>
                </c:pt>
                <c:pt idx="4">
                  <c:v>2143.0</c:v>
                </c:pt>
                <c:pt idx="5">
                  <c:v>2384.0</c:v>
                </c:pt>
                <c:pt idx="6">
                  <c:v>1846.0</c:v>
                </c:pt>
                <c:pt idx="7">
                  <c:v>2056.0</c:v>
                </c:pt>
                <c:pt idx="8">
                  <c:v>2687.0</c:v>
                </c:pt>
                <c:pt idx="9">
                  <c:v>2090.0</c:v>
                </c:pt>
                <c:pt idx="10">
                  <c:v>2251.0</c:v>
                </c:pt>
                <c:pt idx="11">
                  <c:v>1983.0</c:v>
                </c:pt>
              </c:numCache>
            </c:numRef>
          </c:val>
          <c:smooth val="0"/>
        </c:ser>
        <c:ser>
          <c:idx val="1"/>
          <c:order val="1"/>
          <c:tx>
            <c:strRef>
              <c:f>Sheet1!$C$1</c:f>
              <c:strCache>
                <c:ptCount val="1"/>
                <c:pt idx="0">
                  <c:v>Tapiti</c:v>
                </c:pt>
              </c:strCache>
            </c:strRef>
          </c:tx>
          <c:spPr>
            <a:solidFill>
              <a:srgbClr val="2C5F2D"/>
            </a:solidFill>
            <a:ln w="28575">
              <a:solidFill>
                <a:srgbClr val="2C5F2D"/>
              </a:solidFill>
            </a:ln>
          </c:spPr>
          <c:marker>
            <c:size val="7"/>
          </c:marker>
          <c:cat>
            <c:strRef>
              <c:f>Sheet1!$A$2:$A$13</c:f>
              <c:strCache>
                <c:ptCount val="12"/>
                <c:pt idx="0">
                  <c:v>2012/13</c:v>
                </c:pt>
                <c:pt idx="1">
                  <c:v>2013/14</c:v>
                </c:pt>
                <c:pt idx="2">
                  <c:v>2014/15</c:v>
                </c:pt>
                <c:pt idx="3">
                  <c:v>2015/16</c:v>
                </c:pt>
                <c:pt idx="4">
                  <c:v>2016/17</c:v>
                </c:pt>
                <c:pt idx="5">
                  <c:v>2017/18</c:v>
                </c:pt>
                <c:pt idx="6">
                  <c:v>2018/19</c:v>
                </c:pt>
                <c:pt idx="7">
                  <c:v>2019/20</c:v>
                </c:pt>
                <c:pt idx="8">
                  <c:v>2020/21</c:v>
                </c:pt>
                <c:pt idx="9">
                  <c:v>2021/22</c:v>
                </c:pt>
                <c:pt idx="10">
                  <c:v>2022/23</c:v>
                </c:pt>
                <c:pt idx="11">
                  <c:v>2023/24</c:v>
                </c:pt>
              </c:strCache>
            </c:strRef>
          </c:cat>
          <c:val>
            <c:numRef>
              <c:f>Sheet1!$C$2:$C$13</c:f>
              <c:numCache>
                <c:formatCode>General</c:formatCode>
                <c:ptCount val="12"/>
                <c:pt idx="0">
                  <c:v>2467.0</c:v>
                </c:pt>
                <c:pt idx="1">
                  <c:v>2100.0</c:v>
                </c:pt>
                <c:pt idx="2">
                  <c:v>2331.0</c:v>
                </c:pt>
                <c:pt idx="3">
                  <c:v>1831.0</c:v>
                </c:pt>
                <c:pt idx="4">
                  <c:v>2983.0</c:v>
                </c:pt>
                <c:pt idx="5">
                  <c:v>2725.0</c:v>
                </c:pt>
                <c:pt idx="6">
                  <c:v>2826.0</c:v>
                </c:pt>
                <c:pt idx="7">
                  <c:v>2268.0</c:v>
                </c:pt>
                <c:pt idx="8">
                  <c:v>2742.0</c:v>
                </c:pt>
                <c:pt idx="9">
                  <c:v>2453.0</c:v>
                </c:pt>
                <c:pt idx="10">
                  <c:v>2604.0</c:v>
                </c:pt>
                <c:pt idx="11">
                  <c:v>2362.0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4E3DD"/>
            </a:solidFill>
          </a:ln>
        </c:spPr>
        <c:txPr>
          <a:bodyPr/>
          <a:lstStyle/>
          <a:p>
            <a:pPr>
              <a:defRPr sz="1000">
                <a:solidFill>
                  <a:srgbClr val="6B6A66"/>
                </a:solidFill>
              </a:defRPr>
            </a:pPr>
          </a:p>
        </c:txPr>
        <c:crossAx val="2140495176"/>
        <c:crosses val="autoZero"/>
        <c:auto val="1"/>
        <c:lblAlgn val="ctr"/>
        <c:lblOffset val="100"/>
        <c:noMultiLvlLbl val="0"/>
      </c:catAx>
      <c:valAx>
        <c:axId val="2140495176"/>
        <c:scaling>
          <c:min val="0.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solidFill>
            <a:srgbClr val="1A1A19"/>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Observed (INE Santa Cruz soya)</c:v>
                </c:pt>
              </c:strCache>
            </c:strRef>
          </c:tx>
          <c:spPr>
            <a:solidFill>
              <a:srgbClr val="1A1A19"/>
            </a:solidFill>
            <a:ln>
              <a:solidFill>
                <a:srgbClr val="1A1A19"/>
              </a:solidFill>
            </a:ln>
          </c:spPr>
          <c:invertIfNegative val="0"/>
          <c:cat>
            <c:strRef>
              <c:f>Sheet1!$A$2:$A$5</c:f>
              <c:strCache>
                <c:ptCount val="4"/>
                <c:pt idx="0">
                  <c:v>Season rainfall total</c:v>
                </c:pt>
                <c:pt idx="1">
                  <c:v>Days with &gt; 50 mm</c:v>
                </c:pt>
                <c:pt idx="2">
                  <c:v>10-day dry spells</c:v>
                </c:pt>
                <c:pt idx="3">
                  <c:v>Days with Tmax &gt; 35 °C</c:v>
                </c:pt>
              </c:strCache>
            </c:strRef>
          </c:cat>
          <c:val>
            <c:numRef>
              <c:f>Sheet1!$B$2:$B$5</c:f>
              <c:numCache>
                <c:formatCode>General</c:formatCode>
                <c:ptCount val="4"/>
                <c:pt idx="0">
                  <c:v>-0.02</c:v>
                </c:pt>
                <c:pt idx="1">
                  <c:v>-0.51</c:v>
                </c:pt>
                <c:pt idx="2">
                  <c:v>-0.47</c:v>
                </c:pt>
                <c:pt idx="3">
                  <c:v>-0.38</c:v>
                </c:pt>
              </c:numCache>
            </c:numRef>
          </c:val>
        </c:ser>
        <c:ser>
          <c:idx val="1"/>
          <c:order val="1"/>
          <c:tx>
            <c:strRef>
              <c:f>Sheet1!$C$1</c:f>
              <c:strCache>
                <c:ptCount val="1"/>
                <c:pt idx="0">
                  <c:v>Simulated (Tapiti)</c:v>
                </c:pt>
              </c:strCache>
            </c:strRef>
          </c:tx>
          <c:spPr>
            <a:solidFill>
              <a:srgbClr val="2C5F2D"/>
            </a:solidFill>
            <a:ln>
              <a:solidFill>
                <a:srgbClr val="2C5F2D"/>
              </a:solidFill>
            </a:ln>
          </c:spPr>
          <c:invertIfNegative val="0"/>
          <c:cat>
            <c:strRef>
              <c:f>Sheet1!$A$2:$A$5</c:f>
              <c:strCache>
                <c:ptCount val="4"/>
                <c:pt idx="0">
                  <c:v>Season rainfall total</c:v>
                </c:pt>
                <c:pt idx="1">
                  <c:v>Days with &gt; 50 mm</c:v>
                </c:pt>
                <c:pt idx="2">
                  <c:v>10-day dry spells</c:v>
                </c:pt>
                <c:pt idx="3">
                  <c:v>Days with Tmax &gt; 35 °C</c:v>
                </c:pt>
              </c:strCache>
            </c:strRef>
          </c:cat>
          <c:val>
            <c:numRef>
              <c:f>Sheet1!$C$2:$C$5</c:f>
              <c:numCache>
                <c:formatCode>General</c:formatCode>
                <c:ptCount val="4"/>
                <c:pt idx="0">
                  <c:v>0.73</c:v>
                </c:pt>
                <c:pt idx="1">
                  <c:v>-0.27</c:v>
                </c:pt>
                <c:pt idx="2">
                  <c:v>-0.29</c:v>
                </c:pt>
                <c:pt idx="3">
                  <c:v>-0.54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E4E3DD"/>
            </a:solidFill>
          </a:ln>
        </c:spPr>
        <c:txPr>
          <a:bodyPr/>
          <a:lstStyle/>
          <a:p>
            <a:pPr>
              <a:defRPr sz="1000">
                <a:solidFill>
                  <a:srgbClr val="6B6A66"/>
                </a:solidFill>
              </a:defRPr>
            </a:pPr>
          </a:p>
        </c:txPr>
        <c:crossAx val="-2113994440"/>
        <c:crosses val="autoZero"/>
        <c:auto val="1"/>
        <c:lblAlgn val="ctr"/>
        <c:lblOffset val="100"/>
        <c:noMultiLvlLbl val="0"/>
      </c:catAx>
      <c:valAx>
        <c:axId val="-2113994440"/>
        <c:scaling>
          <c:max val="0.8"/>
          <c:min val="-0.8"/>
        </c:scaling>
        <c:delete val="0"/>
        <c:axPos val="b"/>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068027336"/>
        <c:crosses val="autoZero"/>
        <c:majorUnit val="0.4"/>
      </c:valAx>
    </c:plotArea>
    <c:legend>
      <c:legendPos val="b"/>
      <c:overlay val="0"/>
      <c:txPr>
        <a:bodyPr/>
        <a:lstStyle/>
        <a:p>
          <a:pPr>
            <a:defRPr sz="1000"/>
          </a:pPr>
        </a:p>
      </c:txPr>
    </c:legend>
    <c:dispBlanksAs val="gap"/>
  </c:chart>
  <c:txPr>
    <a:bodyPr/>
    <a:lstStyle/>
    <a:p>
      <a:pPr>
        <a:defRPr sz="1000">
          <a:solidFill>
            <a:srgbClr val="1A1A19"/>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 El Niño analogues (14)</c:v>
                </c:pt>
              </c:strCache>
            </c:strRef>
          </c:tx>
          <c:spPr>
            <a:solidFill>
              <a:srgbClr val="EB6834"/>
            </a:solidFill>
            <a:ln>
              <a:solidFill>
                <a:srgbClr val="EB6834"/>
              </a:solidFill>
            </a:ln>
          </c:spPr>
          <c:invertIfNegative val="0"/>
          <c:cat>
            <c:strRef>
              <c:f>Sheet1!$A$2:$A$4</c:f>
              <c:strCache>
                <c:ptCount val="3"/>
                <c:pt idx="0">
                  <c:v>Soya</c:v>
                </c:pt>
                <c:pt idx="1">
                  <c:v>Maíz</c:v>
                </c:pt>
                <c:pt idx="2">
                  <c:v>Arroz</c:v>
                </c:pt>
              </c:strCache>
            </c:strRef>
          </c:cat>
          <c:val>
            <c:numRef>
              <c:f>Sheet1!$B$2:$B$4</c:f>
              <c:numCache>
                <c:formatCode>General</c:formatCode>
                <c:ptCount val="3"/>
                <c:pt idx="0">
                  <c:v>0.0627338283854181</c:v>
                </c:pt>
                <c:pt idx="1">
                  <c:v>-1.1365919509639917</c:v>
                </c:pt>
                <c:pt idx="2">
                  <c:v>-0.7478604183649031</c:v>
                </c:pt>
              </c:numCache>
            </c:numRef>
          </c:val>
        </c:ser>
        <c:ser>
          <c:idx val="1"/>
          <c:order val="1"/>
          <c:tx>
            <c:strRef>
              <c:f>Sheet1!$C$1</c:f>
              <c:strCache>
                <c:ptCount val="1"/>
                <c:pt idx="0">
                  <c:v>SEAS5-weighted analogues</c:v>
                </c:pt>
              </c:strCache>
            </c:strRef>
          </c:tx>
          <c:spPr>
            <a:solidFill>
              <a:srgbClr val="2C5F2D"/>
            </a:solidFill>
            <a:ln>
              <a:solidFill>
                <a:srgbClr val="2C5F2D"/>
              </a:solidFill>
            </a:ln>
          </c:spPr>
          <c:invertIfNegative val="0"/>
          <c:cat>
            <c:strRef>
              <c:f>Sheet1!$A$2:$A$4</c:f>
              <c:strCache>
                <c:ptCount val="3"/>
                <c:pt idx="0">
                  <c:v>Soya</c:v>
                </c:pt>
                <c:pt idx="1">
                  <c:v>Maíz</c:v>
                </c:pt>
                <c:pt idx="2">
                  <c:v>Arroz</c:v>
                </c:pt>
              </c:strCache>
            </c:strRef>
          </c:cat>
          <c:val>
            <c:numRef>
              <c:f>Sheet1!$C$2:$C$4</c:f>
              <c:numCache>
                <c:formatCode>General</c:formatCode>
                <c:ptCount val="3"/>
                <c:pt idx="0">
                  <c:v>-9.45954222273646</c:v>
                </c:pt>
                <c:pt idx="1">
                  <c:v>-6.975333827647646</c:v>
                </c:pt>
                <c:pt idx="2">
                  <c:v>-6.759331901674826</c:v>
                </c:pt>
              </c:numCache>
            </c:numRef>
          </c:val>
        </c:ser>
        <c:ser>
          <c:idx val="2"/>
          <c:order val="2"/>
          <c:tx>
            <c:strRef>
              <c:f>Sheet1!$D$1</c:f>
              <c:strCache>
                <c:ptCount val="1"/>
                <c:pt idx="0">
                  <c:v>Strong eastern-Pacific analogues (3)</c:v>
                </c:pt>
              </c:strCache>
            </c:strRef>
          </c:tx>
          <c:spPr>
            <a:solidFill>
              <a:srgbClr val="B85042"/>
            </a:solidFill>
            <a:ln>
              <a:solidFill>
                <a:srgbClr val="B85042"/>
              </a:solidFill>
            </a:ln>
          </c:spPr>
          <c:invertIfNegative val="0"/>
          <c:cat>
            <c:strRef>
              <c:f>Sheet1!$A$2:$A$4</c:f>
              <c:strCache>
                <c:ptCount val="3"/>
                <c:pt idx="0">
                  <c:v>Soya</c:v>
                </c:pt>
                <c:pt idx="1">
                  <c:v>Maíz</c:v>
                </c:pt>
                <c:pt idx="2">
                  <c:v>Arroz</c:v>
                </c:pt>
              </c:strCache>
            </c:strRef>
          </c:cat>
          <c:val>
            <c:numRef>
              <c:f>Sheet1!$D$2:$D$4</c:f>
              <c:numCache>
                <c:formatCode>General</c:formatCode>
                <c:ptCount val="3"/>
                <c:pt idx="0">
                  <c:v>-30.47787913654288</c:v>
                </c:pt>
                <c:pt idx="1">
                  <c:v>-22.46194403562122</c:v>
                </c:pt>
                <c:pt idx="2">
                  <c:v>-20.20798215449136</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E4E3DD"/>
            </a:solidFill>
          </a:ln>
        </c:spPr>
        <c:txPr>
          <a:bodyPr/>
          <a:lstStyle/>
          <a:p>
            <a:pPr>
              <a:defRPr sz="1000">
                <a:solidFill>
                  <a:srgbClr val="6B6A66"/>
                </a:solidFill>
              </a:defRPr>
            </a:pPr>
          </a:p>
        </c:txPr>
        <c:crossAx val="-2113994440"/>
        <c:crosses val="autoZero"/>
        <c:auto val="1"/>
        <c:lblAlgn val="ctr"/>
        <c:lblOffset val="100"/>
        <c:noMultiLvlLbl val="0"/>
      </c:catAx>
      <c:valAx>
        <c:axId val="-2113994440"/>
        <c:scaling>
          <c:max val="5.0"/>
          <c:min val="-35.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068027336"/>
        <c:crosses val="autoZero"/>
        <c:majorUnit val="5.0"/>
      </c:valAx>
    </c:plotArea>
    <c:legend>
      <c:legendPos val="b"/>
      <c:overlay val="0"/>
      <c:txPr>
        <a:bodyPr/>
        <a:lstStyle/>
        <a:p>
          <a:pPr>
            <a:defRPr sz="1000"/>
          </a:pPr>
        </a:p>
      </c:txPr>
    </c:legend>
    <c:dispBlanksAs val="gap"/>
  </c:chart>
  <c:txPr>
    <a:bodyPr/>
    <a:lstStyle/>
    <a:p>
      <a:pPr>
        <a:defRPr sz="1000">
          <a:solidFill>
            <a:srgbClr val="1A1A19"/>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SEAS5-weighted analogues</c:v>
                </c:pt>
              </c:strCache>
            </c:strRef>
          </c:tx>
          <c:spPr>
            <a:solidFill>
              <a:srgbClr val="2C5F2D"/>
            </a:solidFill>
            <a:ln>
              <a:solidFill>
                <a:srgbClr val="2C5F2D"/>
              </a:solidFill>
            </a:ln>
          </c:spPr>
          <c:invertIfNegative val="0"/>
          <c:cat>
            <c:strRef>
              <c:f>Sheet1!$A$2:$A$4</c:f>
              <c:strCache>
                <c:ptCount val="3"/>
                <c:pt idx="0">
                  <c:v>Soya</c:v>
                </c:pt>
                <c:pt idx="1">
                  <c:v>Maíz</c:v>
                </c:pt>
                <c:pt idx="2">
                  <c:v>Arroz</c:v>
                </c:pt>
              </c:strCache>
            </c:strRef>
          </c:cat>
          <c:val>
            <c:numRef>
              <c:f>Sheet1!$B$2:$B$4</c:f>
              <c:numCache>
                <c:formatCode>General</c:formatCode>
                <c:ptCount val="3"/>
                <c:pt idx="0">
                  <c:v>-9.45954222273646</c:v>
                </c:pt>
                <c:pt idx="1">
                  <c:v>-6.975333827647646</c:v>
                </c:pt>
                <c:pt idx="2">
                  <c:v>-6.759331901674826</c:v>
                </c:pt>
              </c:numCache>
            </c:numRef>
          </c:val>
        </c:ser>
        <c:ser>
          <c:idx val="1"/>
          <c:order val="1"/>
          <c:tx>
            <c:strRef>
              <c:f>Sheet1!$C$1</c:f>
              <c:strCache>
                <c:ptCount val="1"/>
                <c:pt idx="0">
                  <c:v>51 ECMWF members (mean)</c:v>
                </c:pt>
              </c:strCache>
            </c:strRef>
          </c:tx>
          <c:spPr>
            <a:solidFill>
              <a:srgbClr val="EB6834"/>
            </a:solidFill>
            <a:ln>
              <a:solidFill>
                <a:srgbClr val="EB6834"/>
              </a:solidFill>
            </a:ln>
          </c:spPr>
          <c:invertIfNegative val="0"/>
          <c:cat>
            <c:strRef>
              <c:f>Sheet1!$A$2:$A$4</c:f>
              <c:strCache>
                <c:ptCount val="3"/>
                <c:pt idx="0">
                  <c:v>Soya</c:v>
                </c:pt>
                <c:pt idx="1">
                  <c:v>Maíz</c:v>
                </c:pt>
                <c:pt idx="2">
                  <c:v>Arroz</c:v>
                </c:pt>
              </c:strCache>
            </c:strRef>
          </c:cat>
          <c:val>
            <c:numRef>
              <c:f>Sheet1!$C$2:$C$4</c:f>
              <c:numCache>
                <c:formatCode>General</c:formatCode>
                <c:ptCount val="3"/>
                <c:pt idx="0">
                  <c:v>-17.072761948695767</c:v>
                </c:pt>
                <c:pt idx="1">
                  <c:v>-15.988261186727284</c:v>
                </c:pt>
                <c:pt idx="2">
                  <c:v>-13.137361989084388</c:v>
                </c:pt>
              </c:numCache>
            </c:numRef>
          </c:val>
        </c:ser>
        <c:ser>
          <c:idx val="2"/>
          <c:order val="2"/>
          <c:tx>
            <c:strRef>
              <c:f>Sheet1!$D$1</c:f>
              <c:strCache>
                <c:ptCount val="1"/>
                <c:pt idx="0">
                  <c:v>Strong eastern-Pacific analogues (3)</c:v>
                </c:pt>
              </c:strCache>
            </c:strRef>
          </c:tx>
          <c:spPr>
            <a:solidFill>
              <a:srgbClr val="B85042"/>
            </a:solidFill>
            <a:ln>
              <a:solidFill>
                <a:srgbClr val="B85042"/>
              </a:solidFill>
            </a:ln>
          </c:spPr>
          <c:invertIfNegative val="0"/>
          <c:cat>
            <c:strRef>
              <c:f>Sheet1!$A$2:$A$4</c:f>
              <c:strCache>
                <c:ptCount val="3"/>
                <c:pt idx="0">
                  <c:v>Soya</c:v>
                </c:pt>
                <c:pt idx="1">
                  <c:v>Maíz</c:v>
                </c:pt>
                <c:pt idx="2">
                  <c:v>Arroz</c:v>
                </c:pt>
              </c:strCache>
            </c:strRef>
          </c:cat>
          <c:val>
            <c:numRef>
              <c:f>Sheet1!$D$2:$D$4</c:f>
              <c:numCache>
                <c:formatCode>General</c:formatCode>
                <c:ptCount val="3"/>
                <c:pt idx="0">
                  <c:v>-30.47787913654288</c:v>
                </c:pt>
                <c:pt idx="1">
                  <c:v>-22.46194403562122</c:v>
                </c:pt>
                <c:pt idx="2">
                  <c:v>-20.20798215449136</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E4E3DD"/>
            </a:solidFill>
          </a:ln>
        </c:spPr>
        <c:txPr>
          <a:bodyPr/>
          <a:lstStyle/>
          <a:p>
            <a:pPr>
              <a:defRPr sz="1000">
                <a:solidFill>
                  <a:srgbClr val="6B6A66"/>
                </a:solidFill>
              </a:defRPr>
            </a:pPr>
          </a:p>
        </c:txPr>
        <c:crossAx val="-2113994440"/>
        <c:crosses val="autoZero"/>
        <c:auto val="1"/>
        <c:lblAlgn val="ctr"/>
        <c:lblOffset val="100"/>
        <c:noMultiLvlLbl val="0"/>
      </c:catAx>
      <c:valAx>
        <c:axId val="-2113994440"/>
        <c:scaling>
          <c:max val="5.0"/>
          <c:min val="-35.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068027336"/>
        <c:crosses val="autoZero"/>
        <c:majorUnit val="5.0"/>
      </c:valAx>
    </c:plotArea>
    <c:legend>
      <c:legendPos val="b"/>
      <c:overlay val="0"/>
      <c:txPr>
        <a:bodyPr/>
        <a:lstStyle/>
        <a:p>
          <a:pPr>
            <a:defRPr sz="1000"/>
          </a:pPr>
        </a:p>
      </c:txPr>
    </c:legend>
    <c:dispBlanksAs val="gap"/>
  </c:chart>
  <c:txPr>
    <a:bodyPr/>
    <a:lstStyle/>
    <a:p>
      <a:pPr>
        <a:defRPr sz="1000">
          <a:solidFill>
            <a:srgbClr val="1A1A19"/>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Phases 1-5 have a first pass: inputs, calibration, the historical ENSO hindcast, the analogue-driven 2026/27 outlook and the forecast-member ensemble. All numbers are from archived runs named in the manifests.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drives the plan: a retrospective product in March 2027 describes a harvest that has already happened, so the historical analogue product comes first. The forward estimate is a second, separable stage.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analysis/season_progress_chart.py. Zone rainfall = NASA POWER cell rainfall averaged over the modelled cells, weighted by MapSPAM crop area; each line is one campaign from 1 September; phase = DJF ONI of the campaign; thick lines are phase medians. Observed data to the last POWER day (lag of about a week).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is closed as a calibration round; it can be reopened if Phase 3 shows a specific weakness. Potato and quinoa remain out of scope (no module wired / no DSSAT module).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MapSPAM totals match INE national areas (soya 1.39 Mha, maize 0.42, sorghum 0.44, wheat 0.18, rice 0.17). The municipal cross-check of MapSPAM against INE 2023-25 municipal data is still to 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reproducible from scripts in the workspace: prep/gen_weather_bolivia.py, build_soil_bolivia.py, build_unit_information_bolivia.py; sources in derived/SOURCES-management.md.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are config switches defaulting to upstream behaviour, so Tokki results are reproducible from the same code. The N-column finding also applies to the US production 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sensitivity table is in PLAN.md 7.3. Initial mineral N is a strong lever once the fallow is short, and its unit matters: 1 ppm over a 2 m profile is about 27 kg N/ha. The adopted default is 0.3/0.7 ppm.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calibration kept skill for rice, sorghum and wheat. Soya drifted down (0.37 to 0.28) with the shorter pre-season and maize from 0.61 to 0.42 across the two calibration rounds; a factorial on 300 Santa Cruz maize cells gave anomaly correlations of 0.30-0.41 for every combination of start date and cultivar, i.e. within the noise of 12 years. Phase 3 tests the anomaly response on the 42-year record against ENSO, not only against 12 years of 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Sowing-year labels: a verano campaign sown in 2015 is 2015/16; invierno sorghum is labelled by its calendar year.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Anomalies are relative to each cell's own 1983–2024 mean. 1982/83 is outside the simulated record (weather starts 1981, sowing 1983).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preview, not the Phase 3 result: composites by ENSO phase with uncertainty, per crop and department, come next. Note the asymmetry: La Niña campaigns are mildly positive for maize (wetter Santa Cruz), strong El Niño strongly negative.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points; indicative, not significant. The conclusion is about mechanism, not sample size: the lowland El Niño impact on soya runs through excess water, which DSSAT handles poorly, as the plan said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report: documents/Phase3-ENSO-hindcast_2026-10-05.md. Detrended national anomalies, bootstrap intervals over years within phase. The strong-EP composites rest on three events; report them as what happened in those campaigns, not as a climatological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Checked before compositing yields, as the plan required. POWER is MERRA-2 at 0.5 degrees, which smooths the Andes. Station records end in 2009, so the station strong-EP bar is the 1997/98 event alone.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Composite of three events; intervals in the report. The invierno gain is the developing-El Niño winter (April–June of the onset year), not the winter after the peak.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SEAS5 system 51, initialised October 2026, monthly anomalies relative to its own hindcast climatology; precipitation scaled by the POWER Nov-Mar mean; T2m matched to POWER Tmax. Weights are a Gaussian kernel on standardised distance, averaged over members. Refreshed on each monthly release.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 distributions over real seasons, not point forecasts; the 10th-90th percentile ranges are in the report. No area response, no floods or pests; soya magnitude is the least reliable (Phase 2/3). Absolute tonnes are not defensible, relative anomalies are.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pipeline supports monthly updates: move the splice date forward and refresh the SEAS5 weights; the spread narrows as the season advances.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of the strong-EP conditioned members; the SEAS5-weighted version is in the report tables by department and zone.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record: documents/OpenMeteo-assessment_2026-10-14.md and PLAN.md s12. POWER = MERRA-2 with PRECTOTCORR (CPC Unified correction). EC46 = ECMWF extended range (ensemble, 46 days); SEAS5 = ECMWF seasonal system 5; both via the Open-Meteo seasonal API (Professional tier). Bias adjustment: separate Tmax/Tmin shifts, rain and radiation ratios, monthly, interpolated to the day. Weather pull ~2 minutes, 51 DSSAT runs ~45 minutes.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ECMWF run of 2026-10-14 (EC46 to about day 42, then the October SEAS5), bias-adjusted and spliced onto observed POWER to 2026-10-01; 1997/98 weather after 2027-05-03. The member mean sits between the SEAS5-weighted analogue set and the strong-EP set for the three summer crops. Not a verified forecast: no hindcasts exist for the member product, so this is a second opinion in the same units as the analogue sets, not a replacement. Sorgo and trigo (invierno) are untouched by the forecast window except highland trigo.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derived/phase5/2026-10-14/figures/chart_2026_27_members_vs_analogues.png; tables derived/phase5/2026-10-14/member_ensemble_summary.csv. Both columns are % of the all-analogue mean, so they are directly comparable.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POWER rainfall to the last available day, then the 51 bias-adjusted ECMWF members (EC46 then SEAS5, run 2026-10-14) accumulated from that day; dashed = member median, band = 10th-90th percentile. Zone series weighted by crop area as on the season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limitations the plan listed before Phase 1 started; the calibration work sharpened rather than removed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is the first deliverable and a coherent product on its own. The potato question is the one scope decision that changes the Altiplano story.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the IFPRI Bolivia ENSO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737360"/>
            <a:ext cx="10515600" cy="1463040"/>
          </a:xfrm>
          <a:prstGeom prst="rect">
            <a:avLst/>
          </a:prstGeom>
          <a:noFill/>
        </p:spPr>
        <p:txBody>
          <a:bodyPr wrap="square" lIns="0" rIns="0" tIns="0" bIns="0" anchor="t">
            <a:spAutoFit/>
          </a:bodyPr>
          <a:lstStyle/>
          <a:p>
            <a:pPr algn="l"/>
            <a:r>
              <a:rPr sz="4400" b="1" i="0">
                <a:solidFill>
                  <a:srgbClr val="FFFFFF"/>
                </a:solidFill>
                <a:latin typeface="Cambria"/>
              </a:rPr>
              <a:t>Simulating El Niño impacts on Bolivian crops</a:t>
            </a:r>
          </a:p>
        </p:txBody>
      </p:sp>
      <p:sp>
        <p:nvSpPr>
          <p:cNvPr id="4" name="TextBox 3"/>
          <p:cNvSpPr txBox="1"/>
          <p:nvPr/>
        </p:nvSpPr>
        <p:spPr>
          <a:xfrm>
            <a:off x="731520" y="3154680"/>
            <a:ext cx="10515600" cy="731520"/>
          </a:xfrm>
          <a:prstGeom prst="rect">
            <a:avLst/>
          </a:prstGeom>
          <a:noFill/>
        </p:spPr>
        <p:txBody>
          <a:bodyPr wrap="square" lIns="0" rIns="0" tIns="0" bIns="0" anchor="t">
            <a:spAutoFit/>
          </a:bodyPr>
          <a:lstStyle/>
          <a:p>
            <a:pPr algn="l"/>
            <a:r>
              <a:rPr sz="2200" b="0" i="0">
                <a:solidFill>
                  <a:srgbClr val="97BC62"/>
                </a:solidFill>
                <a:latin typeface="Calibri"/>
              </a:rPr>
              <a:t>Progress report — Phases 1–5 of the Tapiti gridded-DSSAT assessment</a:t>
            </a:r>
          </a:p>
        </p:txBody>
      </p:sp>
      <p:sp>
        <p:nvSpPr>
          <p:cNvPr id="5" name="TextBox 4"/>
          <p:cNvSpPr txBox="1"/>
          <p:nvPr/>
        </p:nvSpPr>
        <p:spPr>
          <a:xfrm>
            <a:off x="731520" y="5120640"/>
            <a:ext cx="10058400" cy="457200"/>
          </a:xfrm>
          <a:prstGeom prst="rect">
            <a:avLst/>
          </a:prstGeom>
          <a:noFill/>
        </p:spPr>
        <p:txBody>
          <a:bodyPr wrap="square" lIns="0" rIns="0" tIns="0" bIns="0" anchor="t">
            <a:spAutoFit/>
          </a:bodyPr>
          <a:lstStyle/>
          <a:p>
            <a:pPr algn="l"/>
            <a:r>
              <a:rPr sz="1400" b="0" i="0">
                <a:solidFill>
                  <a:srgbClr val="FFFFFF"/>
                </a:solidFill>
                <a:latin typeface="Calibri"/>
              </a:rPr>
              <a:t>IFPRI  ·  14 October 2026</a:t>
            </a:r>
          </a:p>
        </p:txBody>
      </p:sp>
      <p:sp>
        <p:nvSpPr>
          <p:cNvPr id="6" name="TextBox 5"/>
          <p:cNvSpPr txBox="1"/>
          <p:nvPr/>
        </p:nvSpPr>
        <p:spPr>
          <a:xfrm>
            <a:off x="731520" y="5532120"/>
            <a:ext cx="10058400" cy="457200"/>
          </a:xfrm>
          <a:prstGeom prst="rect">
            <a:avLst/>
          </a:prstGeom>
          <a:noFill/>
        </p:spPr>
        <p:txBody>
          <a:bodyPr wrap="square" lIns="0" rIns="0" tIns="0" bIns="0" anchor="t">
            <a:spAutoFit/>
          </a:bodyPr>
          <a:lstStyle/>
          <a:p>
            <a:pPr algn="l"/>
            <a:r>
              <a:rPr sz="1200" b="0" i="0">
                <a:solidFill>
                  <a:srgbClr val="97BC62"/>
                </a:solidFill>
                <a:latin typeface="Calibri"/>
              </a:rPr>
              <a:t>Tapiti: a Bolivia fork of Tokki, named after the tapití, Bolivia's native cottontail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Why now: the season this El Niño will hit is being sown this month</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a:t>
            </a:r>
          </a:p>
        </p:txBody>
      </p:sp>
      <p:sp>
        <p:nvSpPr>
          <p:cNvPr id="5" name="TextBox 4"/>
          <p:cNvSpPr txBox="1"/>
          <p:nvPr/>
        </p:nvSpPr>
        <p:spPr>
          <a:xfrm>
            <a:off x="548640" y="1325880"/>
            <a:ext cx="5852160" cy="2926080"/>
          </a:xfrm>
          <a:prstGeom prst="rect">
            <a:avLst/>
          </a:prstGeom>
          <a:noFill/>
        </p:spPr>
        <p:txBody>
          <a:bodyPr wrap="square" lIns="0" rIns="0" tIns="0" bIns="0" anchor="t">
            <a:spAutoFit/>
          </a:bodyPr>
          <a:lstStyle/>
          <a:p>
            <a:pPr algn="l">
              <a:spcAft>
                <a:spcPts val="600"/>
              </a:spcAft>
            </a:pPr>
            <a:r>
              <a:rPr sz="1300" b="1" i="0">
                <a:solidFill>
                  <a:srgbClr val="2C5F2D"/>
                </a:solidFill>
                <a:latin typeface="Calibri"/>
              </a:rPr>
              <a:t>•  </a:t>
            </a:r>
            <a:r>
              <a:rPr sz="1300" b="1" i="0">
                <a:solidFill>
                  <a:srgbClr val="1A1A19"/>
                </a:solidFill>
                <a:latin typeface="Calibri"/>
              </a:rPr>
              <a:t>CPC El Niño Advisory (Sep 2026): </a:t>
            </a:r>
            <a:r>
              <a:rPr sz="1300" b="0" i="0">
                <a:solidFill>
                  <a:srgbClr val="1A1A19"/>
                </a:solidFill>
                <a:latin typeface="Calibri"/>
              </a:rPr>
              <a:t>&gt;90% chance of a very strong event; Niño-1+2 at +3.4 °C, the eastern-Pacific signature of 1982/83, 1997/98 and 2015/16</a:t>
            </a:r>
          </a:p>
          <a:p>
            <a:pPr algn="l">
              <a:spcAft>
                <a:spcPts val="600"/>
              </a:spcAft>
            </a:pPr>
            <a:r>
              <a:rPr sz="1300" b="1" i="0">
                <a:solidFill>
                  <a:srgbClr val="2C5F2D"/>
                </a:solidFill>
                <a:latin typeface="Calibri"/>
              </a:rPr>
              <a:t>•  </a:t>
            </a:r>
            <a:r>
              <a:rPr sz="1300" b="1" i="0">
                <a:solidFill>
                  <a:srgbClr val="1A1A19"/>
                </a:solidFill>
                <a:latin typeface="Calibri"/>
              </a:rPr>
              <a:t>Campaña verano sows Sep–Dec: </a:t>
            </a:r>
            <a:r>
              <a:rPr sz="1300" b="0" i="0">
                <a:solidFill>
                  <a:srgbClr val="1A1A19"/>
                </a:solidFill>
                <a:latin typeface="Calibri"/>
              </a:rPr>
              <a:t>maíz and arroz from September, soya from November — the exposure window is Oct–Apr</a:t>
            </a:r>
          </a:p>
          <a:p>
            <a:pPr algn="l">
              <a:spcAft>
                <a:spcPts val="600"/>
              </a:spcAft>
            </a:pPr>
            <a:r>
              <a:rPr sz="1300" b="1" i="0">
                <a:solidFill>
                  <a:srgbClr val="2C5F2D"/>
                </a:solidFill>
                <a:latin typeface="Calibri"/>
              </a:rPr>
              <a:t>•  </a:t>
            </a:r>
            <a:r>
              <a:rPr sz="1300" b="1" i="0">
                <a:solidFill>
                  <a:srgbClr val="1A1A19"/>
                </a:solidFill>
                <a:latin typeface="Calibri"/>
              </a:rPr>
              <a:t>Deliverable 1 (weeks): </a:t>
            </a:r>
            <a:r>
              <a:rPr sz="1300" b="0" i="0">
                <a:solidFill>
                  <a:srgbClr val="1A1A19"/>
                </a:solidFill>
                <a:latin typeface="Calibri"/>
              </a:rPr>
              <a:t>a historical-analogue product — what happened to simulated and observed yields in past El Niño campaigns</a:t>
            </a:r>
          </a:p>
          <a:p>
            <a:pPr algn="l">
              <a:spcAft>
                <a:spcPts val="600"/>
              </a:spcAft>
            </a:pPr>
            <a:r>
              <a:rPr sz="1300" b="1" i="0">
                <a:solidFill>
                  <a:srgbClr val="2C5F2D"/>
                </a:solidFill>
                <a:latin typeface="Calibri"/>
              </a:rPr>
              <a:t>•  </a:t>
            </a:r>
            <a:r>
              <a:rPr sz="1300" b="1" i="0">
                <a:solidFill>
                  <a:srgbClr val="1A1A19"/>
                </a:solidFill>
                <a:latin typeface="Calibri"/>
              </a:rPr>
              <a:t>Deliverable 2 (separable): </a:t>
            </a:r>
            <a:r>
              <a:rPr sz="1300" b="0" i="0">
                <a:solidFill>
                  <a:srgbClr val="1A1A19"/>
                </a:solidFill>
                <a:latin typeface="Calibri"/>
              </a:rPr>
              <a:t>a forward estimate for 2026/27 driven by analogue weather and seasonal forecasts</a:t>
            </a:r>
          </a:p>
        </p:txBody>
      </p:sp>
      <p:sp>
        <p:nvSpPr>
          <p:cNvPr id="6" name="Rounded Rectangle 5"/>
          <p:cNvSpPr/>
          <p:nvPr/>
        </p:nvSpPr>
        <p:spPr>
          <a:xfrm>
            <a:off x="6766560" y="1325880"/>
            <a:ext cx="4846320" cy="448056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1463040"/>
            <a:ext cx="4389120" cy="365760"/>
          </a:xfrm>
          <a:prstGeom prst="rect">
            <a:avLst/>
          </a:prstGeom>
          <a:noFill/>
        </p:spPr>
        <p:txBody>
          <a:bodyPr wrap="square" lIns="0" rIns="0" tIns="0" bIns="0" anchor="t">
            <a:spAutoFit/>
          </a:bodyPr>
          <a:lstStyle/>
          <a:p>
            <a:pPr algn="l"/>
            <a:r>
              <a:rPr sz="1300" b="1" i="0">
                <a:solidFill>
                  <a:srgbClr val="2C5F2D"/>
                </a:solidFill>
                <a:latin typeface="Calibri"/>
              </a:rPr>
              <a:t>The Tapiti hindcast, by the numbers</a:t>
            </a:r>
          </a:p>
        </p:txBody>
      </p:sp>
      <p:sp>
        <p:nvSpPr>
          <p:cNvPr id="8" name="TextBox 7"/>
          <p:cNvSpPr txBox="1"/>
          <p:nvPr/>
        </p:nvSpPr>
        <p:spPr>
          <a:xfrm>
            <a:off x="7040880" y="1828800"/>
            <a:ext cx="2103120" cy="822960"/>
          </a:xfrm>
          <a:prstGeom prst="rect">
            <a:avLst/>
          </a:prstGeom>
          <a:noFill/>
        </p:spPr>
        <p:txBody>
          <a:bodyPr wrap="square" lIns="0" rIns="0" tIns="0" bIns="0" anchor="b">
            <a:spAutoFit/>
          </a:bodyPr>
          <a:lstStyle/>
          <a:p>
            <a:pPr algn="l"/>
            <a:r>
              <a:rPr sz="4000" b="1" i="0">
                <a:solidFill>
                  <a:srgbClr val="2C5F2D"/>
                </a:solidFill>
                <a:latin typeface="Cambria"/>
              </a:rPr>
              <a:t>5</a:t>
            </a:r>
          </a:p>
        </p:txBody>
      </p:sp>
      <p:sp>
        <p:nvSpPr>
          <p:cNvPr id="9" name="TextBox 8"/>
          <p:cNvSpPr txBox="1"/>
          <p:nvPr/>
        </p:nvSpPr>
        <p:spPr>
          <a:xfrm>
            <a:off x="7040880" y="2670048"/>
            <a:ext cx="2103120" cy="548640"/>
          </a:xfrm>
          <a:prstGeom prst="rect">
            <a:avLst/>
          </a:prstGeom>
          <a:noFill/>
        </p:spPr>
        <p:txBody>
          <a:bodyPr wrap="square" lIns="0" rIns="0" tIns="0" bIns="0" anchor="t">
            <a:spAutoFit/>
          </a:bodyPr>
          <a:lstStyle/>
          <a:p>
            <a:pPr algn="l"/>
            <a:r>
              <a:rPr sz="1200" b="0" i="0">
                <a:solidFill>
                  <a:srgbClr val="6B6A66"/>
                </a:solidFill>
                <a:latin typeface="Calibri"/>
              </a:rPr>
              <a:t>crops: soya, maíz, arroz, sorgo, trigo</a:t>
            </a:r>
          </a:p>
        </p:txBody>
      </p:sp>
      <p:sp>
        <p:nvSpPr>
          <p:cNvPr id="10" name="TextBox 9"/>
          <p:cNvSpPr txBox="1"/>
          <p:nvPr/>
        </p:nvSpPr>
        <p:spPr>
          <a:xfrm>
            <a:off x="9235440" y="1828800"/>
            <a:ext cx="2103120" cy="822960"/>
          </a:xfrm>
          <a:prstGeom prst="rect">
            <a:avLst/>
          </a:prstGeom>
          <a:noFill/>
        </p:spPr>
        <p:txBody>
          <a:bodyPr wrap="square" lIns="0" rIns="0" tIns="0" bIns="0" anchor="b">
            <a:spAutoFit/>
          </a:bodyPr>
          <a:lstStyle/>
          <a:p>
            <a:pPr algn="l"/>
            <a:r>
              <a:rPr sz="4000" b="1" i="0">
                <a:solidFill>
                  <a:srgbClr val="2C5F2D"/>
                </a:solidFill>
                <a:latin typeface="Cambria"/>
              </a:rPr>
              <a:t>3,469</a:t>
            </a:r>
          </a:p>
        </p:txBody>
      </p:sp>
      <p:sp>
        <p:nvSpPr>
          <p:cNvPr id="11" name="TextBox 10"/>
          <p:cNvSpPr txBox="1"/>
          <p:nvPr/>
        </p:nvSpPr>
        <p:spPr>
          <a:xfrm>
            <a:off x="9235440" y="2670048"/>
            <a:ext cx="2103120" cy="548640"/>
          </a:xfrm>
          <a:prstGeom prst="rect">
            <a:avLst/>
          </a:prstGeom>
          <a:noFill/>
        </p:spPr>
        <p:txBody>
          <a:bodyPr wrap="square" lIns="0" rIns="0" tIns="0" bIns="0" anchor="t">
            <a:spAutoFit/>
          </a:bodyPr>
          <a:lstStyle/>
          <a:p>
            <a:pPr algn="l"/>
            <a:r>
              <a:rPr sz="1200" b="0" i="0">
                <a:solidFill>
                  <a:srgbClr val="6B6A66"/>
                </a:solidFill>
                <a:latin typeface="Calibri"/>
              </a:rPr>
              <a:t>5-arcmin grid cells</a:t>
            </a:r>
          </a:p>
        </p:txBody>
      </p:sp>
      <p:sp>
        <p:nvSpPr>
          <p:cNvPr id="12" name="TextBox 11"/>
          <p:cNvSpPr txBox="1"/>
          <p:nvPr/>
        </p:nvSpPr>
        <p:spPr>
          <a:xfrm>
            <a:off x="7040880" y="3291840"/>
            <a:ext cx="2103120" cy="822960"/>
          </a:xfrm>
          <a:prstGeom prst="rect">
            <a:avLst/>
          </a:prstGeom>
          <a:noFill/>
        </p:spPr>
        <p:txBody>
          <a:bodyPr wrap="square" lIns="0" rIns="0" tIns="0" bIns="0" anchor="b">
            <a:spAutoFit/>
          </a:bodyPr>
          <a:lstStyle/>
          <a:p>
            <a:pPr algn="l"/>
            <a:r>
              <a:rPr sz="4000" b="1" i="0">
                <a:solidFill>
                  <a:srgbClr val="2C5F2D"/>
                </a:solidFill>
                <a:latin typeface="Cambria"/>
              </a:rPr>
              <a:t>42</a:t>
            </a:r>
          </a:p>
        </p:txBody>
      </p:sp>
      <p:sp>
        <p:nvSpPr>
          <p:cNvPr id="13" name="TextBox 12"/>
          <p:cNvSpPr txBox="1"/>
          <p:nvPr/>
        </p:nvSpPr>
        <p:spPr>
          <a:xfrm>
            <a:off x="7040880" y="4133088"/>
            <a:ext cx="2103120" cy="548640"/>
          </a:xfrm>
          <a:prstGeom prst="rect">
            <a:avLst/>
          </a:prstGeom>
          <a:noFill/>
        </p:spPr>
        <p:txBody>
          <a:bodyPr wrap="square" lIns="0" rIns="0" tIns="0" bIns="0" anchor="t">
            <a:spAutoFit/>
          </a:bodyPr>
          <a:lstStyle/>
          <a:p>
            <a:pPr algn="l"/>
            <a:r>
              <a:rPr sz="1200" b="0" i="0">
                <a:solidFill>
                  <a:srgbClr val="6B6A66"/>
                </a:solidFill>
                <a:latin typeface="Calibri"/>
              </a:rPr>
              <a:t>campaigns, 1983/84 – 2024/25</a:t>
            </a:r>
          </a:p>
        </p:txBody>
      </p:sp>
      <p:sp>
        <p:nvSpPr>
          <p:cNvPr id="14" name="TextBox 13"/>
          <p:cNvSpPr txBox="1"/>
          <p:nvPr/>
        </p:nvSpPr>
        <p:spPr>
          <a:xfrm>
            <a:off x="9235440" y="3291840"/>
            <a:ext cx="2103120" cy="822960"/>
          </a:xfrm>
          <a:prstGeom prst="rect">
            <a:avLst/>
          </a:prstGeom>
          <a:noFill/>
        </p:spPr>
        <p:txBody>
          <a:bodyPr wrap="square" lIns="0" rIns="0" tIns="0" bIns="0" anchor="b">
            <a:spAutoFit/>
          </a:bodyPr>
          <a:lstStyle/>
          <a:p>
            <a:pPr algn="l"/>
            <a:r>
              <a:rPr sz="4000" b="1" i="0">
                <a:solidFill>
                  <a:srgbClr val="2C5F2D"/>
                </a:solidFill>
                <a:latin typeface="Cambria"/>
              </a:rPr>
              <a:t>382k</a:t>
            </a:r>
          </a:p>
        </p:txBody>
      </p:sp>
      <p:sp>
        <p:nvSpPr>
          <p:cNvPr id="15" name="TextBox 14"/>
          <p:cNvSpPr txBox="1"/>
          <p:nvPr/>
        </p:nvSpPr>
        <p:spPr>
          <a:xfrm>
            <a:off x="9235440" y="4133088"/>
            <a:ext cx="2103120" cy="548640"/>
          </a:xfrm>
          <a:prstGeom prst="rect">
            <a:avLst/>
          </a:prstGeom>
          <a:noFill/>
        </p:spPr>
        <p:txBody>
          <a:bodyPr wrap="square" lIns="0" rIns="0" tIns="0" bIns="0" anchor="t">
            <a:spAutoFit/>
          </a:bodyPr>
          <a:lstStyle/>
          <a:p>
            <a:pPr algn="l"/>
            <a:r>
              <a:rPr sz="1200" b="0" i="0">
                <a:solidFill>
                  <a:srgbClr val="6B6A66"/>
                </a:solidFill>
                <a:latin typeface="Calibri"/>
              </a:rPr>
              <a:t>DSSAT seasons per run</a:t>
            </a:r>
          </a:p>
        </p:txBody>
      </p:sp>
      <p:sp>
        <p:nvSpPr>
          <p:cNvPr id="16" name="TextBox 15"/>
          <p:cNvSpPr txBox="1"/>
          <p:nvPr/>
        </p:nvSpPr>
        <p:spPr>
          <a:xfrm>
            <a:off x="7040880" y="4846320"/>
            <a:ext cx="4389120" cy="822960"/>
          </a:xfrm>
          <a:prstGeom prst="rect">
            <a:avLst/>
          </a:prstGeom>
          <a:noFill/>
        </p:spPr>
        <p:txBody>
          <a:bodyPr wrap="square" lIns="0" rIns="0" tIns="0" bIns="0" anchor="t">
            <a:spAutoFit/>
          </a:bodyPr>
          <a:lstStyle/>
          <a:p>
            <a:pPr algn="l"/>
            <a:r>
              <a:rPr sz="1100" b="0" i="0">
                <a:solidFill>
                  <a:srgbClr val="6B6A66"/>
                </a:solidFill>
                <a:latin typeface="Calibri"/>
              </a:rPr>
              <a:t>Weather per cell from NASA POWER (MERRA-2), soils from ISRIC SoilGrids + HC27, areas from MapSPAM 2020, calibration against INE departmental statistics 2012–2024.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This season so far: wet start in the highlands, ordinary in the lowlands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3</a:t>
            </a:r>
          </a:p>
        </p:txBody>
      </p:sp>
      <p:pic>
        <p:nvPicPr>
          <p:cNvPr id="5" name="Picture 4" descr="chart_season_progress.png"/>
          <p:cNvPicPr>
            <a:picLocks noChangeAspect="1"/>
          </p:cNvPicPr>
          <p:nvPr/>
        </p:nvPicPr>
        <p:blipFill>
          <a:blip r:embed="rId2"/>
          <a:stretch>
            <a:fillRect/>
          </a:stretch>
        </p:blipFill>
        <p:spPr>
          <a:xfrm>
            <a:off x="457200" y="1188720"/>
            <a:ext cx="11247120" cy="3814856"/>
          </a:xfrm>
          <a:prstGeom prst="rect">
            <a:avLst/>
          </a:prstGeom>
        </p:spPr>
      </p:pic>
      <p:sp>
        <p:nvSpPr>
          <p:cNvPr id="6" name="TextBox 5"/>
          <p:cNvSpPr txBox="1"/>
          <p:nvPr/>
        </p:nvSpPr>
        <p:spPr>
          <a:xfrm>
            <a:off x="548640" y="4983480"/>
            <a:ext cx="11064240" cy="1371600"/>
          </a:xfrm>
          <a:prstGeom prst="rect">
            <a:avLst/>
          </a:prstGeom>
          <a:noFill/>
        </p:spPr>
        <p:txBody>
          <a:bodyPr wrap="square" lIns="0" rIns="0" tIns="0" bIns="0" anchor="t">
            <a:spAutoFit/>
          </a:bodyPr>
          <a:lstStyle/>
          <a:p>
            <a:pPr algn="l">
              <a:spcAft>
                <a:spcPts val="300"/>
              </a:spcAft>
            </a:pPr>
            <a:r>
              <a:rPr sz="1100" b="1" i="0">
                <a:solidFill>
                  <a:srgbClr val="2C5F2D"/>
                </a:solidFill>
                <a:latin typeface="Calibri"/>
              </a:rPr>
              <a:t>•  </a:t>
            </a:r>
            <a:r>
              <a:rPr sz="1100" b="1" i="0">
                <a:solidFill>
                  <a:srgbClr val="1A1A19"/>
                </a:solidFill>
                <a:latin typeface="Calibri"/>
              </a:rPr>
              <a:t>Rain since 1 September, to 10 October: </a:t>
            </a:r>
            <a:r>
              <a:rPr sz="1100" b="0" i="0">
                <a:solidFill>
                  <a:srgbClr val="1A1A19"/>
                </a:solidFill>
                <a:latin typeface="Calibri"/>
              </a:rPr>
              <a:t>Altiplano 67 mm (rank 2 of 46 campaigns at this date; El Niño median 30 mm), valleys 122 mm (rank 1), lowlands 80 mm, near the middle of the record</a:t>
            </a:r>
          </a:p>
          <a:p>
            <a:pPr algn="l">
              <a:spcAft>
                <a:spcPts val="300"/>
              </a:spcAft>
            </a:pPr>
            <a:r>
              <a:rPr sz="1100" b="1" i="0">
                <a:solidFill>
                  <a:srgbClr val="2C5F2D"/>
                </a:solidFill>
                <a:latin typeface="Calibri"/>
              </a:rPr>
              <a:t>•  </a:t>
            </a:r>
            <a:r>
              <a:rPr sz="1100" b="1" i="0">
                <a:solidFill>
                  <a:srgbClr val="1A1A19"/>
                </a:solidFill>
                <a:latin typeface="Calibri"/>
              </a:rPr>
              <a:t>A wet September in the highlands is not evidence against the El Niño outlook: </a:t>
            </a:r>
            <a:r>
              <a:rPr sz="1100" b="0" i="0">
                <a:solidFill>
                  <a:srgbClr val="1A1A19"/>
                </a:solidFill>
                <a:latin typeface="Calibri"/>
              </a:rPr>
              <a:t>1997/98 began the same way (Altiplano 94 mm at this date) and the El Niño deficit arrives with the main rains, December to March</a:t>
            </a:r>
          </a:p>
          <a:p>
            <a:pPr algn="l">
              <a:spcAft>
                <a:spcPts val="300"/>
              </a:spcAft>
            </a:pPr>
            <a:r>
              <a:rPr sz="1100" b="1" i="0">
                <a:solidFill>
                  <a:srgbClr val="2C5F2D"/>
                </a:solidFill>
                <a:latin typeface="Calibri"/>
              </a:rPr>
              <a:t>•  </a:t>
            </a:r>
            <a:r>
              <a:rPr sz="1100" b="1" i="0">
                <a:solidFill>
                  <a:srgbClr val="1A1A19"/>
                </a:solidFill>
                <a:latin typeface="Calibri"/>
              </a:rPr>
              <a:t>The lines fan out from November: </a:t>
            </a:r>
            <a:r>
              <a:rPr sz="1100" b="0" i="0">
                <a:solidFill>
                  <a:srgbClr val="1A1A19"/>
                </a:solidFill>
                <a:latin typeface="Calibri"/>
              </a:rPr>
              <a:t>the campaign is decided in the next five months, which is what the forecast slides address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Where we are: all five phases have a first pass; updates are next</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4</a:t>
            </a:r>
          </a:p>
        </p:txBody>
      </p:sp>
      <p:sp>
        <p:nvSpPr>
          <p:cNvPr id="5" name="Rectangle 4"/>
          <p:cNvSpPr/>
          <p:nvPr/>
        </p:nvSpPr>
        <p:spPr>
          <a:xfrm>
            <a:off x="548640"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0</a:t>
            </a:r>
          </a:p>
        </p:txBody>
      </p:sp>
      <p:sp>
        <p:nvSpPr>
          <p:cNvPr id="7" name="TextBox 6"/>
          <p:cNvSpPr txBox="1"/>
          <p:nvPr/>
        </p:nvSpPr>
        <p:spPr>
          <a:xfrm>
            <a:off x="548640"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Scaffold</a:t>
            </a:r>
          </a:p>
        </p:txBody>
      </p:sp>
      <p:sp>
        <p:nvSpPr>
          <p:cNvPr id="8" name="TextBox 7"/>
          <p:cNvSpPr txBox="1"/>
          <p:nvPr/>
        </p:nvSpPr>
        <p:spPr>
          <a:xfrm>
            <a:off x="548640"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Fork Tokki → Tapiti; smoke test on real cells</a:t>
            </a:r>
          </a:p>
        </p:txBody>
      </p:sp>
      <p:sp>
        <p:nvSpPr>
          <p:cNvPr id="9" name="TextBox 8"/>
          <p:cNvSpPr txBox="1"/>
          <p:nvPr/>
        </p:nvSpPr>
        <p:spPr>
          <a:xfrm>
            <a:off x="548640"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Complete</a:t>
            </a:r>
          </a:p>
        </p:txBody>
      </p:sp>
      <p:sp>
        <p:nvSpPr>
          <p:cNvPr id="10" name="Rectangle 9"/>
          <p:cNvSpPr/>
          <p:nvPr/>
        </p:nvSpPr>
        <p:spPr>
          <a:xfrm>
            <a:off x="2404872"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04872"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1</a:t>
            </a:r>
          </a:p>
        </p:txBody>
      </p:sp>
      <p:sp>
        <p:nvSpPr>
          <p:cNvPr id="12" name="TextBox 11"/>
          <p:cNvSpPr txBox="1"/>
          <p:nvPr/>
        </p:nvSpPr>
        <p:spPr>
          <a:xfrm>
            <a:off x="2404872"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Inputs</a:t>
            </a:r>
          </a:p>
        </p:txBody>
      </p:sp>
      <p:sp>
        <p:nvSpPr>
          <p:cNvPr id="13" name="TextBox 12"/>
          <p:cNvSpPr txBox="1"/>
          <p:nvPr/>
        </p:nvSpPr>
        <p:spPr>
          <a:xfrm>
            <a:off x="2404872"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Weather, soil, management, cultivars, unit table</a:t>
            </a:r>
          </a:p>
        </p:txBody>
      </p:sp>
      <p:sp>
        <p:nvSpPr>
          <p:cNvPr id="14" name="TextBox 13"/>
          <p:cNvSpPr txBox="1"/>
          <p:nvPr/>
        </p:nvSpPr>
        <p:spPr>
          <a:xfrm>
            <a:off x="2404872"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Complete</a:t>
            </a:r>
          </a:p>
        </p:txBody>
      </p:sp>
      <p:sp>
        <p:nvSpPr>
          <p:cNvPr id="15" name="Rectangle 14"/>
          <p:cNvSpPr/>
          <p:nvPr/>
        </p:nvSpPr>
        <p:spPr>
          <a:xfrm>
            <a:off x="4261103"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61103"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2</a:t>
            </a:r>
          </a:p>
        </p:txBody>
      </p:sp>
      <p:sp>
        <p:nvSpPr>
          <p:cNvPr id="17" name="TextBox 16"/>
          <p:cNvSpPr txBox="1"/>
          <p:nvPr/>
        </p:nvSpPr>
        <p:spPr>
          <a:xfrm>
            <a:off x="4261103"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Calibration</a:t>
            </a:r>
          </a:p>
        </p:txBody>
      </p:sp>
      <p:sp>
        <p:nvSpPr>
          <p:cNvPr id="18" name="TextBox 17"/>
          <p:cNvSpPr txBox="1"/>
          <p:nvPr/>
        </p:nvSpPr>
        <p:spPr>
          <a:xfrm>
            <a:off x="4261103"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Boundary conditions and yield levels vs INE</a:t>
            </a:r>
          </a:p>
        </p:txBody>
      </p:sp>
      <p:sp>
        <p:nvSpPr>
          <p:cNvPr id="19" name="TextBox 18"/>
          <p:cNvSpPr txBox="1"/>
          <p:nvPr/>
        </p:nvSpPr>
        <p:spPr>
          <a:xfrm>
            <a:off x="4261103"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Complete</a:t>
            </a:r>
          </a:p>
        </p:txBody>
      </p:sp>
      <p:sp>
        <p:nvSpPr>
          <p:cNvPr id="20" name="Rectangle 19"/>
          <p:cNvSpPr/>
          <p:nvPr/>
        </p:nvSpPr>
        <p:spPr>
          <a:xfrm>
            <a:off x="6117336"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17336"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3</a:t>
            </a:r>
          </a:p>
        </p:txBody>
      </p:sp>
      <p:sp>
        <p:nvSpPr>
          <p:cNvPr id="22" name="TextBox 21"/>
          <p:cNvSpPr txBox="1"/>
          <p:nvPr/>
        </p:nvSpPr>
        <p:spPr>
          <a:xfrm>
            <a:off x="6117336"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ENSO hindcast</a:t>
            </a:r>
          </a:p>
        </p:txBody>
      </p:sp>
      <p:sp>
        <p:nvSpPr>
          <p:cNvPr id="23" name="TextBox 22"/>
          <p:cNvSpPr txBox="1"/>
          <p:nvPr/>
        </p:nvSpPr>
        <p:spPr>
          <a:xfrm>
            <a:off x="6117336"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Composites by ENSO phase, 1983–2024</a:t>
            </a:r>
          </a:p>
        </p:txBody>
      </p:sp>
      <p:sp>
        <p:nvSpPr>
          <p:cNvPr id="24" name="TextBox 23"/>
          <p:cNvSpPr txBox="1"/>
          <p:nvPr/>
        </p:nvSpPr>
        <p:spPr>
          <a:xfrm>
            <a:off x="6117336"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First pass complete</a:t>
            </a:r>
          </a:p>
        </p:txBody>
      </p:sp>
      <p:sp>
        <p:nvSpPr>
          <p:cNvPr id="25" name="Rectangle 24"/>
          <p:cNvSpPr/>
          <p:nvPr/>
        </p:nvSpPr>
        <p:spPr>
          <a:xfrm>
            <a:off x="7973567"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73567"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4</a:t>
            </a:r>
          </a:p>
        </p:txBody>
      </p:sp>
      <p:sp>
        <p:nvSpPr>
          <p:cNvPr id="27" name="TextBox 26"/>
          <p:cNvSpPr txBox="1"/>
          <p:nvPr/>
        </p:nvSpPr>
        <p:spPr>
          <a:xfrm>
            <a:off x="7973567"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Outlook 2026/27</a:t>
            </a:r>
          </a:p>
        </p:txBody>
      </p:sp>
      <p:sp>
        <p:nvSpPr>
          <p:cNvPr id="28" name="TextBox 27"/>
          <p:cNvSpPr txBox="1"/>
          <p:nvPr/>
        </p:nvSpPr>
        <p:spPr>
          <a:xfrm>
            <a:off x="7973567"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Analogue weather + seasonal forecasts</a:t>
            </a:r>
          </a:p>
        </p:txBody>
      </p:sp>
      <p:sp>
        <p:nvSpPr>
          <p:cNvPr id="29" name="TextBox 28"/>
          <p:cNvSpPr txBox="1"/>
          <p:nvPr/>
        </p:nvSpPr>
        <p:spPr>
          <a:xfrm>
            <a:off x="7973567"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First pass complete</a:t>
            </a:r>
          </a:p>
        </p:txBody>
      </p:sp>
      <p:sp>
        <p:nvSpPr>
          <p:cNvPr id="30" name="Rectangle 29"/>
          <p:cNvSpPr/>
          <p:nvPr/>
        </p:nvSpPr>
        <p:spPr>
          <a:xfrm>
            <a:off x="9829799"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9799"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5</a:t>
            </a:r>
          </a:p>
        </p:txBody>
      </p:sp>
      <p:sp>
        <p:nvSpPr>
          <p:cNvPr id="32" name="TextBox 31"/>
          <p:cNvSpPr txBox="1"/>
          <p:nvPr/>
        </p:nvSpPr>
        <p:spPr>
          <a:xfrm>
            <a:off x="9829799"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Forecast members</a:t>
            </a:r>
          </a:p>
        </p:txBody>
      </p:sp>
      <p:sp>
        <p:nvSpPr>
          <p:cNvPr id="33" name="TextBox 32"/>
          <p:cNvSpPr txBox="1"/>
          <p:nvPr/>
        </p:nvSpPr>
        <p:spPr>
          <a:xfrm>
            <a:off x="9829799"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51 ECMWF members drive DSSAT, beside the analogues</a:t>
            </a:r>
          </a:p>
        </p:txBody>
      </p:sp>
      <p:sp>
        <p:nvSpPr>
          <p:cNvPr id="34" name="TextBox 33"/>
          <p:cNvSpPr txBox="1"/>
          <p:nvPr/>
        </p:nvSpPr>
        <p:spPr>
          <a:xfrm>
            <a:off x="9829799"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First pass complete</a:t>
            </a:r>
          </a:p>
        </p:txBody>
      </p:sp>
      <p:sp>
        <p:nvSpPr>
          <p:cNvPr id="35" name="TextBox 34"/>
          <p:cNvSpPr txBox="1"/>
          <p:nvPr/>
        </p:nvSpPr>
        <p:spPr>
          <a:xfrm>
            <a:off x="548640" y="4114800"/>
            <a:ext cx="11064240" cy="365760"/>
          </a:xfrm>
          <a:prstGeom prst="rect">
            <a:avLst/>
          </a:prstGeom>
          <a:noFill/>
        </p:spPr>
        <p:txBody>
          <a:bodyPr wrap="square" lIns="0" rIns="0" tIns="0" bIns="0" anchor="t">
            <a:spAutoFit/>
          </a:bodyPr>
          <a:lstStyle/>
          <a:p>
            <a:pPr algn="l"/>
            <a:r>
              <a:rPr sz="1400" b="1" i="0">
                <a:solidFill>
                  <a:srgbClr val="2C5F2D"/>
                </a:solidFill>
                <a:latin typeface="Calibri"/>
              </a:rPr>
              <a:t>What changed since the plan was written</a:t>
            </a:r>
          </a:p>
        </p:txBody>
      </p:sp>
      <p:sp>
        <p:nvSpPr>
          <p:cNvPr id="36" name="TextBox 35"/>
          <p:cNvSpPr txBox="1"/>
          <p:nvPr/>
        </p:nvSpPr>
        <p:spPr>
          <a:xfrm>
            <a:off x="548640" y="4480560"/>
            <a:ext cx="11064240" cy="1828800"/>
          </a:xfrm>
          <a:prstGeom prst="rect">
            <a:avLst/>
          </a:prstGeom>
          <a:noFill/>
        </p:spPr>
        <p:txBody>
          <a:bodyPr wrap="square" lIns="0" rIns="0" tIns="0" bIns="0" anchor="t">
            <a:spAutoFit/>
          </a:bodyPr>
          <a:lstStyle/>
          <a:p>
            <a:pPr algn="l">
              <a:spcAft>
                <a:spcPts val="600"/>
              </a:spcAft>
            </a:pPr>
            <a:r>
              <a:rPr sz="1200" b="1" i="0">
                <a:solidFill>
                  <a:srgbClr val="2C5F2D"/>
                </a:solidFill>
                <a:latin typeface="Calibri"/>
              </a:rPr>
              <a:t>•  </a:t>
            </a:r>
            <a:r>
              <a:rPr sz="1200" b="0" i="0">
                <a:solidFill>
                  <a:srgbClr val="1A1A19"/>
                </a:solidFill>
                <a:latin typeface="Calibri"/>
              </a:rPr>
              <a:t>The tool is now Tapiti (github.com/jawoo/Tapiti): a renamed fork of Tokki with the US-only material removed, 10 commits of Bolivia-specific changes, every run archived with a manifest</a:t>
            </a:r>
          </a:p>
          <a:p>
            <a:pPr algn="l">
              <a:spcAft>
                <a:spcPts val="600"/>
              </a:spcAft>
            </a:pPr>
            <a:r>
              <a:rPr sz="1200" b="1" i="0">
                <a:solidFill>
                  <a:srgbClr val="2C5F2D"/>
                </a:solidFill>
                <a:latin typeface="Calibri"/>
              </a:rPr>
              <a:t>•  </a:t>
            </a:r>
            <a:r>
              <a:rPr sz="1200" b="0" i="0">
                <a:solidFill>
                  <a:srgbClr val="1A1A19"/>
                </a:solidFill>
                <a:latin typeface="Calibri"/>
              </a:rPr>
              <a:t>Two inherited assumptions had to be reworked before calibration made sense: how rice is grown, and when a season starts (slides 7–8)</a:t>
            </a:r>
          </a:p>
          <a:p>
            <a:pPr algn="l">
              <a:spcAft>
                <a:spcPts val="600"/>
              </a:spcAft>
            </a:pPr>
            <a:r>
              <a:rPr sz="1200" b="1" i="0">
                <a:solidFill>
                  <a:srgbClr val="2C5F2D"/>
                </a:solidFill>
                <a:latin typeface="Calibri"/>
              </a:rPr>
              <a:t>•  </a:t>
            </a:r>
            <a:r>
              <a:rPr sz="1200" b="0" i="0">
                <a:solidFill>
                  <a:srgbClr val="1A1A19"/>
                </a:solidFill>
                <a:latin typeface="Calibri"/>
              </a:rPr>
              <a:t>Soya — 1.4 Mha and the Santa Cruz economy — turns out to be the crop the water-balance model explains least (slide 12)</a:t>
            </a:r>
          </a:p>
          <a:p>
            <a:pPr algn="l">
              <a:spcAft>
                <a:spcPts val="600"/>
              </a:spcAft>
            </a:pPr>
            <a:r>
              <a:rPr sz="1200" b="1" i="0">
                <a:solidFill>
                  <a:srgbClr val="2C5F2D"/>
                </a:solidFill>
                <a:latin typeface="Calibri"/>
              </a:rPr>
              <a:t>•  </a:t>
            </a:r>
            <a:r>
              <a:rPr sz="1200" b="0" i="0">
                <a:solidFill>
                  <a:srgbClr val="1A1A19"/>
                </a:solidFill>
                <a:latin typeface="Calibri"/>
              </a:rPr>
              <a:t>Weather sources settled after a check against 18 SENAMHI stations: NASA POWER for the observed record, the 51 ECMWF forecast members (EC46 then SEAS5) for the season ahead (slide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The spatial frame: 3,469 cells, five crops, three zones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5</a:t>
            </a:r>
          </a:p>
        </p:txBody>
      </p:sp>
      <p:pic>
        <p:nvPicPr>
          <p:cNvPr id="5" name="Picture 4" descr="map_cells_dominant_crop.png"/>
          <p:cNvPicPr>
            <a:picLocks noChangeAspect="1"/>
          </p:cNvPicPr>
          <p:nvPr/>
        </p:nvPicPr>
        <p:blipFill>
          <a:blip r:embed="rId2"/>
          <a:stretch>
            <a:fillRect/>
          </a:stretch>
        </p:blipFill>
        <p:spPr>
          <a:xfrm>
            <a:off x="457200" y="1280160"/>
            <a:ext cx="4437871" cy="4846320"/>
          </a:xfrm>
          <a:prstGeom prst="rect">
            <a:avLst/>
          </a:prstGeom>
        </p:spPr>
      </p:pic>
      <p:pic>
        <p:nvPicPr>
          <p:cNvPr id="6" name="Picture 5" descr="map_zones.png"/>
          <p:cNvPicPr>
            <a:picLocks noChangeAspect="1"/>
          </p:cNvPicPr>
          <p:nvPr/>
        </p:nvPicPr>
        <p:blipFill>
          <a:blip r:embed="rId3"/>
          <a:stretch>
            <a:fillRect/>
          </a:stretch>
        </p:blipFill>
        <p:spPr>
          <a:xfrm>
            <a:off x="5394960" y="1280160"/>
            <a:ext cx="4437871" cy="4846320"/>
          </a:xfrm>
          <a:prstGeom prst="rect">
            <a:avLst/>
          </a:prstGeom>
        </p:spPr>
      </p:pic>
      <p:sp>
        <p:nvSpPr>
          <p:cNvPr id="7" name="TextBox 6"/>
          <p:cNvSpPr txBox="1"/>
          <p:nvPr/>
        </p:nvSpPr>
        <p:spPr>
          <a:xfrm>
            <a:off x="548640" y="6126480"/>
            <a:ext cx="9601200" cy="274320"/>
          </a:xfrm>
          <a:prstGeom prst="rect">
            <a:avLst/>
          </a:prstGeom>
          <a:noFill/>
        </p:spPr>
        <p:txBody>
          <a:bodyPr wrap="square" lIns="0" rIns="0" tIns="0" bIns="0" anchor="t">
            <a:spAutoFit/>
          </a:bodyPr>
          <a:lstStyle/>
          <a:p>
            <a:pPr algn="l"/>
            <a:r>
              <a:rPr sz="900" b="0" i="0">
                <a:solidFill>
                  <a:srgbClr val="6B6A66"/>
                </a:solidFill>
                <a:latin typeface="Calibri"/>
              </a:rPr>
              <a:t>Cells: MapSPAM 2020 harvested area ≥25 ha. Zones: cell-mean elevation from the NASA POWER DEM. Boundaries: geoBoundaries ADM1.</a:t>
            </a:r>
          </a:p>
        </p:txBody>
      </p:sp>
      <p:sp>
        <p:nvSpPr>
          <p:cNvPr id="8" name="TextBox 7"/>
          <p:cNvSpPr txBox="1"/>
          <p:nvPr/>
        </p:nvSpPr>
        <p:spPr>
          <a:xfrm>
            <a:off x="10149840" y="1371600"/>
            <a:ext cx="1828800" cy="4846320"/>
          </a:xfrm>
          <a:prstGeom prst="rect">
            <a:avLst/>
          </a:prstGeom>
          <a:noFill/>
        </p:spPr>
        <p:txBody>
          <a:bodyPr wrap="square" lIns="0" rIns="0" tIns="0" bIns="0" anchor="t">
            <a:spAutoFit/>
          </a:bodyPr>
          <a:lstStyle/>
          <a:p>
            <a:pPr algn="l">
              <a:spcAft>
                <a:spcPts val="400"/>
              </a:spcAft>
            </a:pPr>
            <a:r>
              <a:rPr sz="1000" b="1" i="0">
                <a:solidFill>
                  <a:srgbClr val="2C5F2D"/>
                </a:solidFill>
                <a:latin typeface="Calibri"/>
              </a:rPr>
              <a:t>•  </a:t>
            </a:r>
            <a:r>
              <a:rPr sz="1000" b="0" i="0">
                <a:solidFill>
                  <a:srgbClr val="1A1A19"/>
                </a:solidFill>
                <a:latin typeface="Calibri"/>
              </a:rPr>
              <a:t>Cells with ≥25 ha of an in-scope crop in MapSPAM 2020</a:t>
            </a:r>
          </a:p>
          <a:p>
            <a:pPr algn="l">
              <a:spcAft>
                <a:spcPts val="400"/>
              </a:spcAft>
            </a:pPr>
            <a:r>
              <a:rPr sz="1000" b="1" i="0">
                <a:solidFill>
                  <a:srgbClr val="2C5F2D"/>
                </a:solidFill>
                <a:latin typeface="Calibri"/>
              </a:rPr>
              <a:t>•  </a:t>
            </a:r>
            <a:r>
              <a:rPr sz="1000" b="0" i="0">
                <a:solidFill>
                  <a:srgbClr val="1A1A19"/>
                </a:solidFill>
                <a:latin typeface="Calibri"/>
              </a:rPr>
              <a:t>Soya and sorgo in the Santa Cruz plain; maíz in the valleys; trigo valleys and Altiplano; arroz in Beni and the Norte Integrado</a:t>
            </a:r>
          </a:p>
          <a:p>
            <a:pPr algn="l">
              <a:spcAft>
                <a:spcPts val="400"/>
              </a:spcAft>
            </a:pPr>
            <a:r>
              <a:rPr sz="1000" b="1" i="0">
                <a:solidFill>
                  <a:srgbClr val="2C5F2D"/>
                </a:solidFill>
                <a:latin typeface="Calibri"/>
              </a:rPr>
              <a:t>•  </a:t>
            </a:r>
            <a:r>
              <a:rPr sz="1000" b="0" i="0">
                <a:solidFill>
                  <a:srgbClr val="1A1A19"/>
                </a:solidFill>
                <a:latin typeface="Calibri"/>
              </a:rPr>
              <a:t>Zone by cell elevation sets season, management class and cultivar</a:t>
            </a:r>
          </a:p>
          <a:p>
            <a:pPr algn="l">
              <a:spcAft>
                <a:spcPts val="400"/>
              </a:spcAft>
            </a:pPr>
            <a:r>
              <a:rPr sz="1000" b="1" i="0">
                <a:solidFill>
                  <a:srgbClr val="2C5F2D"/>
                </a:solidFill>
                <a:latin typeface="Calibri"/>
              </a:rPr>
              <a:t>•  </a:t>
            </a:r>
            <a:r>
              <a:rPr sz="1000" b="0" i="0">
                <a:solidFill>
                  <a:srgbClr val="1A1A19"/>
                </a:solidFill>
                <a:latin typeface="Calibri"/>
              </a:rPr>
              <a:t>141 rice/soya records above 2,800 m dropped as MapSPAM allocation errors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1 inputs: what was built and where it is weak</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6</a:t>
            </a:r>
          </a:p>
        </p:txBody>
      </p:sp>
      <p:sp>
        <p:nvSpPr>
          <p:cNvPr id="5" name="TextBox 4"/>
          <p:cNvSpPr txBox="1"/>
          <p:nvPr/>
        </p:nvSpPr>
        <p:spPr>
          <a:xfrm>
            <a:off x="548640" y="1325880"/>
            <a:ext cx="1554480" cy="320040"/>
          </a:xfrm>
          <a:prstGeom prst="rect">
            <a:avLst/>
          </a:prstGeom>
          <a:noFill/>
        </p:spPr>
        <p:txBody>
          <a:bodyPr wrap="square" lIns="0" rIns="0" tIns="0" bIns="0" anchor="t">
            <a:spAutoFit/>
          </a:bodyPr>
          <a:lstStyle/>
          <a:p>
            <a:pPr algn="l"/>
            <a:r>
              <a:rPr sz="1100" b="1" i="0">
                <a:solidFill>
                  <a:srgbClr val="6B6A66"/>
                </a:solidFill>
                <a:latin typeface="Calibri"/>
              </a:rPr>
              <a:t>Component</a:t>
            </a:r>
          </a:p>
        </p:txBody>
      </p:sp>
      <p:sp>
        <p:nvSpPr>
          <p:cNvPr id="6" name="TextBox 5"/>
          <p:cNvSpPr txBox="1"/>
          <p:nvPr/>
        </p:nvSpPr>
        <p:spPr>
          <a:xfrm>
            <a:off x="2194560" y="1325880"/>
            <a:ext cx="5669280" cy="320040"/>
          </a:xfrm>
          <a:prstGeom prst="rect">
            <a:avLst/>
          </a:prstGeom>
          <a:noFill/>
        </p:spPr>
        <p:txBody>
          <a:bodyPr wrap="square" lIns="0" rIns="0" tIns="0" bIns="0" anchor="t">
            <a:spAutoFit/>
          </a:bodyPr>
          <a:lstStyle/>
          <a:p>
            <a:pPr algn="l"/>
            <a:r>
              <a:rPr sz="1100" b="1" i="0">
                <a:solidFill>
                  <a:srgbClr val="6B6A66"/>
                </a:solidFill>
                <a:latin typeface="Calibri"/>
              </a:rPr>
              <a:t>What was built</a:t>
            </a:r>
          </a:p>
        </p:txBody>
      </p:sp>
      <p:sp>
        <p:nvSpPr>
          <p:cNvPr id="7" name="TextBox 6"/>
          <p:cNvSpPr txBox="1"/>
          <p:nvPr/>
        </p:nvSpPr>
        <p:spPr>
          <a:xfrm>
            <a:off x="8046720" y="1325880"/>
            <a:ext cx="3566160" cy="320040"/>
          </a:xfrm>
          <a:prstGeom prst="rect">
            <a:avLst/>
          </a:prstGeom>
          <a:noFill/>
        </p:spPr>
        <p:txBody>
          <a:bodyPr wrap="square" lIns="0" rIns="0" tIns="0" bIns="0" anchor="t">
            <a:spAutoFit/>
          </a:bodyPr>
          <a:lstStyle/>
          <a:p>
            <a:pPr algn="l"/>
            <a:r>
              <a:rPr sz="1100" b="1" i="0">
                <a:solidFill>
                  <a:srgbClr val="6B6A66"/>
                </a:solidFill>
                <a:latin typeface="Calibri"/>
              </a:rPr>
              <a:t>Known weakness</a:t>
            </a:r>
          </a:p>
        </p:txBody>
      </p:sp>
      <p:sp>
        <p:nvSpPr>
          <p:cNvPr id="8" name="Rectangle 7"/>
          <p:cNvSpPr/>
          <p:nvPr/>
        </p:nvSpPr>
        <p:spPr>
          <a:xfrm>
            <a:off x="548640" y="1636775"/>
            <a:ext cx="11064240" cy="18288"/>
          </a:xfrm>
          <a:prstGeom prst="rect">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09928"/>
            <a:ext cx="1554480" cy="822960"/>
          </a:xfrm>
          <a:prstGeom prst="rect">
            <a:avLst/>
          </a:prstGeom>
          <a:noFill/>
        </p:spPr>
        <p:txBody>
          <a:bodyPr wrap="square" lIns="0" rIns="0" tIns="0" bIns="0" anchor="t">
            <a:spAutoFit/>
          </a:bodyPr>
          <a:lstStyle/>
          <a:p>
            <a:pPr algn="l"/>
            <a:r>
              <a:rPr sz="1300" b="1" i="0">
                <a:solidFill>
                  <a:srgbClr val="2C5F2D"/>
                </a:solidFill>
                <a:latin typeface="Calibri"/>
              </a:rPr>
              <a:t>Weather</a:t>
            </a:r>
          </a:p>
        </p:txBody>
      </p:sp>
      <p:sp>
        <p:nvSpPr>
          <p:cNvPr id="10" name="TextBox 9"/>
          <p:cNvSpPr txBox="1"/>
          <p:nvPr/>
        </p:nvSpPr>
        <p:spPr>
          <a:xfrm>
            <a:off x="2194560" y="1709928"/>
            <a:ext cx="5669280" cy="868680"/>
          </a:xfrm>
          <a:prstGeom prst="rect">
            <a:avLst/>
          </a:prstGeom>
          <a:noFill/>
        </p:spPr>
        <p:txBody>
          <a:bodyPr wrap="square" lIns="0" rIns="0" tIns="0" bIns="0" anchor="t">
            <a:spAutoFit/>
          </a:bodyPr>
          <a:lstStyle/>
          <a:p>
            <a:pPr algn="l"/>
            <a:r>
              <a:rPr sz="1100" b="0" i="0">
                <a:solidFill>
                  <a:srgbClr val="1A1A19"/>
                </a:solidFill>
                <a:latin typeface="Calibri"/>
              </a:rPr>
              <a:t>NASA POWER (MERRA-2 0.5°) daily per cell, 1981–2026; 1981–83 radiation estimated from temperature range</a:t>
            </a:r>
          </a:p>
        </p:txBody>
      </p:sp>
      <p:sp>
        <p:nvSpPr>
          <p:cNvPr id="11" name="TextBox 10"/>
          <p:cNvSpPr txBox="1"/>
          <p:nvPr/>
        </p:nvSpPr>
        <p:spPr>
          <a:xfrm>
            <a:off x="8046720" y="1709928"/>
            <a:ext cx="3566160" cy="868680"/>
          </a:xfrm>
          <a:prstGeom prst="rect">
            <a:avLst/>
          </a:prstGeom>
          <a:noFill/>
        </p:spPr>
        <p:txBody>
          <a:bodyPr wrap="square" lIns="0" rIns="0" tIns="0" bIns="0" anchor="t">
            <a:spAutoFit/>
          </a:bodyPr>
          <a:lstStyle/>
          <a:p>
            <a:pPr algn="l"/>
            <a:r>
              <a:rPr sz="1100" b="0" i="0">
                <a:solidFill>
                  <a:srgbClr val="6B6A66"/>
                </a:solidFill>
                <a:latin typeface="Calibri"/>
              </a:rPr>
              <a:t>Reanalysis rainfall in complex terrain; 0.5° grid vs 5-arcmin cells</a:t>
            </a:r>
          </a:p>
        </p:txBody>
      </p:sp>
      <p:sp>
        <p:nvSpPr>
          <p:cNvPr id="12" name="Rectangle 11"/>
          <p:cNvSpPr/>
          <p:nvPr/>
        </p:nvSpPr>
        <p:spPr>
          <a:xfrm>
            <a:off x="548640" y="2569463"/>
            <a:ext cx="11064240" cy="18288"/>
          </a:xfrm>
          <a:prstGeom prst="rect">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42615"/>
            <a:ext cx="1554480" cy="822960"/>
          </a:xfrm>
          <a:prstGeom prst="rect">
            <a:avLst/>
          </a:prstGeom>
          <a:noFill/>
        </p:spPr>
        <p:txBody>
          <a:bodyPr wrap="square" lIns="0" rIns="0" tIns="0" bIns="0" anchor="t">
            <a:spAutoFit/>
          </a:bodyPr>
          <a:lstStyle/>
          <a:p>
            <a:pPr algn="l"/>
            <a:r>
              <a:rPr sz="1300" b="1" i="0">
                <a:solidFill>
                  <a:srgbClr val="2C5F2D"/>
                </a:solidFill>
                <a:latin typeface="Calibri"/>
              </a:rPr>
              <a:t>Soil</a:t>
            </a:r>
          </a:p>
        </p:txBody>
      </p:sp>
      <p:sp>
        <p:nvSpPr>
          <p:cNvPr id="14" name="TextBox 13"/>
          <p:cNvSpPr txBox="1"/>
          <p:nvPr/>
        </p:nvSpPr>
        <p:spPr>
          <a:xfrm>
            <a:off x="2194560" y="2642615"/>
            <a:ext cx="5669280" cy="868680"/>
          </a:xfrm>
          <a:prstGeom prst="rect">
            <a:avLst/>
          </a:prstGeom>
          <a:noFill/>
        </p:spPr>
        <p:txBody>
          <a:bodyPr wrap="square" lIns="0" rIns="0" tIns="0" bIns="0" anchor="t">
            <a:spAutoFit/>
          </a:bodyPr>
          <a:lstStyle/>
          <a:p>
            <a:pPr algn="l"/>
            <a:r>
              <a:rPr sz="1100" b="0" i="0">
                <a:solidFill>
                  <a:srgbClr val="1A1A19"/>
                </a:solidFill>
                <a:latin typeface="Calibri"/>
              </a:rPr>
              <a:t>ISRIC SoilGrids + HC27 profiles, the same library as the US work; 10 edge cells filled from neighbours</a:t>
            </a:r>
          </a:p>
        </p:txBody>
      </p:sp>
      <p:sp>
        <p:nvSpPr>
          <p:cNvPr id="15" name="TextBox 14"/>
          <p:cNvSpPr txBox="1"/>
          <p:nvPr/>
        </p:nvSpPr>
        <p:spPr>
          <a:xfrm>
            <a:off x="8046720" y="2642615"/>
            <a:ext cx="3566160" cy="868680"/>
          </a:xfrm>
          <a:prstGeom prst="rect">
            <a:avLst/>
          </a:prstGeom>
          <a:noFill/>
        </p:spPr>
        <p:txBody>
          <a:bodyPr wrap="square" lIns="0" rIns="0" tIns="0" bIns="0" anchor="t">
            <a:spAutoFit/>
          </a:bodyPr>
          <a:lstStyle/>
          <a:p>
            <a:pPr algn="l"/>
            <a:r>
              <a:rPr sz="1100" b="0" i="0">
                <a:solidFill>
                  <a:srgbClr val="6B6A66"/>
                </a:solidFill>
                <a:latin typeface="Calibri"/>
              </a:rPr>
              <a:t>Rooting depth 200 cm everywhere; organic carbon drives mineralised N</a:t>
            </a:r>
          </a:p>
        </p:txBody>
      </p:sp>
      <p:sp>
        <p:nvSpPr>
          <p:cNvPr id="16" name="Rectangle 15"/>
          <p:cNvSpPr/>
          <p:nvPr/>
        </p:nvSpPr>
        <p:spPr>
          <a:xfrm>
            <a:off x="548640" y="3502152"/>
            <a:ext cx="11064240" cy="18288"/>
          </a:xfrm>
          <a:prstGeom prst="rect">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575304"/>
            <a:ext cx="1554480" cy="822960"/>
          </a:xfrm>
          <a:prstGeom prst="rect">
            <a:avLst/>
          </a:prstGeom>
          <a:noFill/>
        </p:spPr>
        <p:txBody>
          <a:bodyPr wrap="square" lIns="0" rIns="0" tIns="0" bIns="0" anchor="t">
            <a:spAutoFit/>
          </a:bodyPr>
          <a:lstStyle/>
          <a:p>
            <a:pPr algn="l"/>
            <a:r>
              <a:rPr sz="1300" b="1" i="0">
                <a:solidFill>
                  <a:srgbClr val="2C5F2D"/>
                </a:solidFill>
                <a:latin typeface="Calibri"/>
              </a:rPr>
              <a:t>Management</a:t>
            </a:r>
          </a:p>
        </p:txBody>
      </p:sp>
      <p:sp>
        <p:nvSpPr>
          <p:cNvPr id="18" name="TextBox 17"/>
          <p:cNvSpPr txBox="1"/>
          <p:nvPr/>
        </p:nvSpPr>
        <p:spPr>
          <a:xfrm>
            <a:off x="2194560" y="3575304"/>
            <a:ext cx="5669280" cy="868680"/>
          </a:xfrm>
          <a:prstGeom prst="rect">
            <a:avLst/>
          </a:prstGeom>
          <a:noFill/>
        </p:spPr>
        <p:txBody>
          <a:bodyPr wrap="square" lIns="0" rIns="0" tIns="0" bIns="0" anchor="t">
            <a:spAutoFit/>
          </a:bodyPr>
          <a:lstStyle/>
          <a:p>
            <a:pPr algn="l"/>
            <a:r>
              <a:rPr sz="1100" b="0" i="0">
                <a:solidFill>
                  <a:srgbClr val="1A1A19"/>
                </a:solidFill>
                <a:latin typeface="Calibri"/>
              </a:rPr>
              <a:t>Zone × crop × season table from ANAPO, CIAT, INIAF, MDRyT, CIPCA, Censo 2013, FAOSTAT — sources documented figure by figure</a:t>
            </a:r>
          </a:p>
        </p:txBody>
      </p:sp>
      <p:sp>
        <p:nvSpPr>
          <p:cNvPr id="19" name="TextBox 18"/>
          <p:cNvSpPr txBox="1"/>
          <p:nvPr/>
        </p:nvSpPr>
        <p:spPr>
          <a:xfrm>
            <a:off x="8046720" y="3575304"/>
            <a:ext cx="3566160" cy="868680"/>
          </a:xfrm>
          <a:prstGeom prst="rect">
            <a:avLst/>
          </a:prstGeom>
          <a:noFill/>
        </p:spPr>
        <p:txBody>
          <a:bodyPr wrap="square" lIns="0" rIns="0" tIns="0" bIns="0" anchor="t">
            <a:spAutoFit/>
          </a:bodyPr>
          <a:lstStyle/>
          <a:p>
            <a:pPr algn="l"/>
            <a:r>
              <a:rPr sz="1100" b="0" i="0">
                <a:solidFill>
                  <a:srgbClr val="6B6A66"/>
                </a:solidFill>
                <a:latin typeface="Calibri"/>
              </a:rPr>
              <a:t>No national survey; rows marked "fill" copy a neighbour; sowing windows capped by a model limit</a:t>
            </a:r>
          </a:p>
        </p:txBody>
      </p:sp>
      <p:sp>
        <p:nvSpPr>
          <p:cNvPr id="20" name="Rectangle 19"/>
          <p:cNvSpPr/>
          <p:nvPr/>
        </p:nvSpPr>
        <p:spPr>
          <a:xfrm>
            <a:off x="548640" y="4434840"/>
            <a:ext cx="11064240" cy="18288"/>
          </a:xfrm>
          <a:prstGeom prst="rect">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507992"/>
            <a:ext cx="1554480" cy="822960"/>
          </a:xfrm>
          <a:prstGeom prst="rect">
            <a:avLst/>
          </a:prstGeom>
          <a:noFill/>
        </p:spPr>
        <p:txBody>
          <a:bodyPr wrap="square" lIns="0" rIns="0" tIns="0" bIns="0" anchor="t">
            <a:spAutoFit/>
          </a:bodyPr>
          <a:lstStyle/>
          <a:p>
            <a:pPr algn="l"/>
            <a:r>
              <a:rPr sz="1300" b="1" i="0">
                <a:solidFill>
                  <a:srgbClr val="2C5F2D"/>
                </a:solidFill>
                <a:latin typeface="Calibri"/>
              </a:rPr>
              <a:t>Seasons</a:t>
            </a:r>
          </a:p>
        </p:txBody>
      </p:sp>
      <p:sp>
        <p:nvSpPr>
          <p:cNvPr id="22" name="TextBox 21"/>
          <p:cNvSpPr txBox="1"/>
          <p:nvPr/>
        </p:nvSpPr>
        <p:spPr>
          <a:xfrm>
            <a:off x="2194560" y="4507992"/>
            <a:ext cx="5669280" cy="868680"/>
          </a:xfrm>
          <a:prstGeom prst="rect">
            <a:avLst/>
          </a:prstGeom>
          <a:noFill/>
        </p:spPr>
        <p:txBody>
          <a:bodyPr wrap="square" lIns="0" rIns="0" tIns="0" bIns="0" anchor="t">
            <a:spAutoFit/>
          </a:bodyPr>
          <a:lstStyle/>
          <a:p>
            <a:pPr algn="l"/>
            <a:r>
              <a:rPr sz="1100" b="0" i="0">
                <a:solidFill>
                  <a:srgbClr val="1A1A19"/>
                </a:solidFill>
                <a:latin typeface="Calibri"/>
              </a:rPr>
              <a:t>Dominant campaign per department from INE 2012–24: verano for soya/rice, invierno for Santa Cruz sorgo and trigo, verano for highland trigo</a:t>
            </a:r>
          </a:p>
        </p:txBody>
      </p:sp>
      <p:sp>
        <p:nvSpPr>
          <p:cNvPr id="23" name="TextBox 22"/>
          <p:cNvSpPr txBox="1"/>
          <p:nvPr/>
        </p:nvSpPr>
        <p:spPr>
          <a:xfrm>
            <a:off x="8046720" y="4507992"/>
            <a:ext cx="3566160" cy="868680"/>
          </a:xfrm>
          <a:prstGeom prst="rect">
            <a:avLst/>
          </a:prstGeom>
          <a:noFill/>
        </p:spPr>
        <p:txBody>
          <a:bodyPr wrap="square" lIns="0" rIns="0" tIns="0" bIns="0" anchor="t">
            <a:spAutoFit/>
          </a:bodyPr>
          <a:lstStyle/>
          <a:p>
            <a:pPr algn="l"/>
            <a:r>
              <a:rPr sz="1100" b="0" i="0">
                <a:solidFill>
                  <a:srgbClr val="6B6A66"/>
                </a:solidFill>
                <a:latin typeface="Calibri"/>
              </a:rPr>
              <a:t>One season per crop per cell; soya invierno (23%) not simulated</a:t>
            </a:r>
          </a:p>
        </p:txBody>
      </p:sp>
      <p:sp>
        <p:nvSpPr>
          <p:cNvPr id="24" name="Rectangle 23"/>
          <p:cNvSpPr/>
          <p:nvPr/>
        </p:nvSpPr>
        <p:spPr>
          <a:xfrm>
            <a:off x="548640" y="5367528"/>
            <a:ext cx="11064240" cy="18288"/>
          </a:xfrm>
          <a:prstGeom prst="rect">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440680"/>
            <a:ext cx="1554480" cy="822960"/>
          </a:xfrm>
          <a:prstGeom prst="rect">
            <a:avLst/>
          </a:prstGeom>
          <a:noFill/>
        </p:spPr>
        <p:txBody>
          <a:bodyPr wrap="square" lIns="0" rIns="0" tIns="0" bIns="0" anchor="t">
            <a:spAutoFit/>
          </a:bodyPr>
          <a:lstStyle/>
          <a:p>
            <a:pPr algn="l"/>
            <a:r>
              <a:rPr sz="1300" b="1" i="0">
                <a:solidFill>
                  <a:srgbClr val="2C5F2D"/>
                </a:solidFill>
                <a:latin typeface="Calibri"/>
              </a:rPr>
              <a:t>Cultivars</a:t>
            </a:r>
          </a:p>
        </p:txBody>
      </p:sp>
      <p:sp>
        <p:nvSpPr>
          <p:cNvPr id="26" name="TextBox 25"/>
          <p:cNvSpPr txBox="1"/>
          <p:nvPr/>
        </p:nvSpPr>
        <p:spPr>
          <a:xfrm>
            <a:off x="2194560" y="5440680"/>
            <a:ext cx="5669280" cy="868680"/>
          </a:xfrm>
          <a:prstGeom prst="rect">
            <a:avLst/>
          </a:prstGeom>
          <a:noFill/>
        </p:spPr>
        <p:txBody>
          <a:bodyPr wrap="square" lIns="0" rIns="0" tIns="0" bIns="0" anchor="t">
            <a:spAutoFit/>
          </a:bodyPr>
          <a:lstStyle/>
          <a:p>
            <a:pPr algn="l"/>
            <a:r>
              <a:rPr sz="1100" b="0" i="0">
                <a:solidFill>
                  <a:srgbClr val="1A1A19"/>
                </a:solidFill>
                <a:latin typeface="Calibri"/>
              </a:rPr>
              <a:t>Explicit per cell: Bolivia zone cultivars for maíz, arroz, sorgo; DSSAT generics for soya (MG 8) and trigo</a:t>
            </a:r>
          </a:p>
        </p:txBody>
      </p:sp>
      <p:sp>
        <p:nvSpPr>
          <p:cNvPr id="27" name="TextBox 26"/>
          <p:cNvSpPr txBox="1"/>
          <p:nvPr/>
        </p:nvSpPr>
        <p:spPr>
          <a:xfrm>
            <a:off x="8046720" y="5440680"/>
            <a:ext cx="3566160" cy="868680"/>
          </a:xfrm>
          <a:prstGeom prst="rect">
            <a:avLst/>
          </a:prstGeom>
          <a:noFill/>
        </p:spPr>
        <p:txBody>
          <a:bodyPr wrap="square" lIns="0" rIns="0" tIns="0" bIns="0" anchor="t">
            <a:spAutoFit/>
          </a:bodyPr>
          <a:lstStyle/>
          <a:p>
            <a:pPr algn="l"/>
            <a:r>
              <a:rPr sz="1100" b="0" i="0">
                <a:solidFill>
                  <a:srgbClr val="6B6A66"/>
                </a:solidFill>
                <a:latin typeface="Calibri"/>
              </a:rPr>
              <a:t>Level-calibrated, not variety-specific; trigo uncalibrated (slide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Tapiti: four inherited assumptions that did not transfer from the US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7</a:t>
            </a:r>
          </a:p>
        </p:txBody>
      </p:sp>
      <p:sp>
        <p:nvSpPr>
          <p:cNvPr id="5" name="Rounded Rectangle 4"/>
          <p:cNvSpPr/>
          <p:nvPr/>
        </p:nvSpPr>
        <p:spPr>
          <a:xfrm>
            <a:off x="548640" y="1325880"/>
            <a:ext cx="5440680" cy="22860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39"/>
            <a:ext cx="5074920" cy="411480"/>
          </a:xfrm>
          <a:prstGeom prst="rect">
            <a:avLst/>
          </a:prstGeom>
          <a:noFill/>
        </p:spPr>
        <p:txBody>
          <a:bodyPr wrap="square" lIns="0" rIns="0" tIns="0" bIns="0" anchor="t">
            <a:spAutoFit/>
          </a:bodyPr>
          <a:lstStyle/>
          <a:p>
            <a:pPr algn="l"/>
            <a:r>
              <a:rPr sz="1400" b="1" i="0">
                <a:solidFill>
                  <a:srgbClr val="2C5F2D"/>
                </a:solidFill>
                <a:latin typeface="Calibri"/>
              </a:rPr>
              <a:t>Rice was paddy</a:t>
            </a:r>
          </a:p>
        </p:txBody>
      </p:sp>
      <p:sp>
        <p:nvSpPr>
          <p:cNvPr id="7" name="TextBox 6"/>
          <p:cNvSpPr txBox="1"/>
          <p:nvPr/>
        </p:nvSpPr>
        <p:spPr>
          <a:xfrm>
            <a:off x="731520" y="1892807"/>
            <a:ext cx="5074920" cy="16002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Tokki wrote every rice run as transplanted, puddled, flooded paddy. Bolivian rice is ~90% direct-seeded secano. Tapiti adds an upland mode; rainfed rice now runs like any rainfed crop.</a:t>
            </a:r>
          </a:p>
        </p:txBody>
      </p:sp>
      <p:sp>
        <p:nvSpPr>
          <p:cNvPr id="8" name="TextBox 7"/>
          <p:cNvSpPr txBox="1"/>
          <p:nvPr/>
        </p:nvSpPr>
        <p:spPr>
          <a:xfrm>
            <a:off x="731520" y="3108960"/>
            <a:ext cx="5074920" cy="365760"/>
          </a:xfrm>
          <a:prstGeom prst="rect">
            <a:avLst/>
          </a:prstGeom>
          <a:noFill/>
        </p:spPr>
        <p:txBody>
          <a:bodyPr wrap="square" lIns="0" rIns="0" tIns="0" bIns="0" anchor="t">
            <a:spAutoFit/>
          </a:bodyPr>
          <a:lstStyle/>
          <a:p>
            <a:pPr algn="l"/>
            <a:r>
              <a:rPr sz="1000" b="0" i="0">
                <a:solidFill>
                  <a:srgbClr val="6B6A66"/>
                </a:solidFill>
                <a:latin typeface="Consolas"/>
              </a:rPr>
              <a:t>riceSystem: upland</a:t>
            </a:r>
          </a:p>
        </p:txBody>
      </p:sp>
      <p:sp>
        <p:nvSpPr>
          <p:cNvPr id="9" name="Rounded Rectangle 8"/>
          <p:cNvSpPr/>
          <p:nvPr/>
        </p:nvSpPr>
        <p:spPr>
          <a:xfrm>
            <a:off x="6172200" y="1325880"/>
            <a:ext cx="5440680" cy="22860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463039"/>
            <a:ext cx="5074920" cy="411480"/>
          </a:xfrm>
          <a:prstGeom prst="rect">
            <a:avLst/>
          </a:prstGeom>
          <a:noFill/>
        </p:spPr>
        <p:txBody>
          <a:bodyPr wrap="square" lIns="0" rIns="0" tIns="0" bIns="0" anchor="t">
            <a:spAutoFit/>
          </a:bodyPr>
          <a:lstStyle/>
          <a:p>
            <a:pPr algn="l"/>
            <a:r>
              <a:rPr sz="1400" b="1" i="0">
                <a:solidFill>
                  <a:srgbClr val="2C5F2D"/>
                </a:solidFill>
                <a:latin typeface="Calibri"/>
              </a:rPr>
              <a:t>The wrong N column</a:t>
            </a:r>
          </a:p>
        </p:txBody>
      </p:sp>
      <p:sp>
        <p:nvSpPr>
          <p:cNvPr id="11" name="TextBox 10"/>
          <p:cNvSpPr txBox="1"/>
          <p:nvPr/>
        </p:nvSpPr>
        <p:spPr>
          <a:xfrm>
            <a:off x="6355080" y="1892807"/>
            <a:ext cx="5074920" cy="16002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With the override on, Tokki applies the recommended N rate and never reads the farmer rate. A hindcast needs farmer practice.</a:t>
            </a:r>
          </a:p>
        </p:txBody>
      </p:sp>
      <p:sp>
        <p:nvSpPr>
          <p:cNvPr id="12" name="TextBox 11"/>
          <p:cNvSpPr txBox="1"/>
          <p:nvPr/>
        </p:nvSpPr>
        <p:spPr>
          <a:xfrm>
            <a:off x="6355080" y="3108960"/>
            <a:ext cx="5074920" cy="365760"/>
          </a:xfrm>
          <a:prstGeom prst="rect">
            <a:avLst/>
          </a:prstGeom>
          <a:noFill/>
        </p:spPr>
        <p:txBody>
          <a:bodyPr wrap="square" lIns="0" rIns="0" tIns="0" bIns="0" anchor="t">
            <a:spAutoFit/>
          </a:bodyPr>
          <a:lstStyle/>
          <a:p>
            <a:pPr algn="l"/>
            <a:r>
              <a:rPr sz="1000" b="0" i="0">
                <a:solidFill>
                  <a:srgbClr val="6B6A66"/>
                </a:solidFill>
                <a:latin typeface="Consolas"/>
              </a:rPr>
              <a:t>nitrogenRateSource: actual</a:t>
            </a:r>
          </a:p>
        </p:txBody>
      </p:sp>
      <p:sp>
        <p:nvSpPr>
          <p:cNvPr id="13" name="Rounded Rectangle 12"/>
          <p:cNvSpPr/>
          <p:nvPr/>
        </p:nvSpPr>
        <p:spPr>
          <a:xfrm>
            <a:off x="548640" y="3794760"/>
            <a:ext cx="5440680" cy="22860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931920"/>
            <a:ext cx="5074920" cy="411480"/>
          </a:xfrm>
          <a:prstGeom prst="rect">
            <a:avLst/>
          </a:prstGeom>
          <a:noFill/>
        </p:spPr>
        <p:txBody>
          <a:bodyPr wrap="square" lIns="0" rIns="0" tIns="0" bIns="0" anchor="t">
            <a:spAutoFit/>
          </a:bodyPr>
          <a:lstStyle/>
          <a:p>
            <a:pPr algn="l"/>
            <a:r>
              <a:rPr sz="1400" b="1" i="0">
                <a:solidFill>
                  <a:srgbClr val="2C5F2D"/>
                </a:solidFill>
                <a:latin typeface="Calibri"/>
              </a:rPr>
              <a:t>Seasons started on 1 January</a:t>
            </a:r>
          </a:p>
        </p:txBody>
      </p:sp>
      <p:sp>
        <p:nvSpPr>
          <p:cNvPr id="15" name="TextBox 14"/>
          <p:cNvSpPr txBox="1"/>
          <p:nvPr/>
        </p:nvSpPr>
        <p:spPr>
          <a:xfrm>
            <a:off x="731520" y="4361688"/>
            <a:ext cx="5074920" cy="16002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A verano crop sat behind ten months of bare fallow in which soil carbon mineralised 150–250 kg N/ha that nothing took up. Tapiti starts 60 days before sowing with explicit initial soil water and mineral N.</a:t>
            </a:r>
          </a:p>
        </p:txBody>
      </p:sp>
      <p:sp>
        <p:nvSpPr>
          <p:cNvPr id="16" name="TextBox 15"/>
          <p:cNvSpPr txBox="1"/>
          <p:nvPr/>
        </p:nvSpPr>
        <p:spPr>
          <a:xfrm>
            <a:off x="731520" y="5577840"/>
            <a:ext cx="5074920" cy="365760"/>
          </a:xfrm>
          <a:prstGeom prst="rect">
            <a:avLst/>
          </a:prstGeom>
          <a:noFill/>
        </p:spPr>
        <p:txBody>
          <a:bodyPr wrap="square" lIns="0" rIns="0" tIns="0" bIns="0" anchor="t">
            <a:spAutoFit/>
          </a:bodyPr>
          <a:lstStyle/>
          <a:p>
            <a:pPr algn="l"/>
            <a:r>
              <a:rPr sz="1000" b="0" i="0">
                <a:solidFill>
                  <a:srgbClr val="6B6A66"/>
                </a:solidFill>
                <a:latin typeface="Consolas"/>
              </a:rPr>
              <a:t>simulationStartDaysBeforePlanting: 60  ·  initialSoilWaterFraction: 0.5  ·  initialSoilN: 0.3/0.7 ppm</a:t>
            </a:r>
          </a:p>
        </p:txBody>
      </p:sp>
      <p:sp>
        <p:nvSpPr>
          <p:cNvPr id="17" name="Rounded Rectangle 16"/>
          <p:cNvSpPr/>
          <p:nvPr/>
        </p:nvSpPr>
        <p:spPr>
          <a:xfrm>
            <a:off x="6172200" y="3794760"/>
            <a:ext cx="5440680" cy="22860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931920"/>
            <a:ext cx="5074920" cy="411480"/>
          </a:xfrm>
          <a:prstGeom prst="rect">
            <a:avLst/>
          </a:prstGeom>
          <a:noFill/>
        </p:spPr>
        <p:txBody>
          <a:bodyPr wrap="square" lIns="0" rIns="0" tIns="0" bIns="0" anchor="t">
            <a:spAutoFit/>
          </a:bodyPr>
          <a:lstStyle/>
          <a:p>
            <a:pPr algn="l"/>
            <a:r>
              <a:rPr sz="1400" b="1" i="0">
                <a:solidFill>
                  <a:srgbClr val="2C5F2D"/>
                </a:solidFill>
                <a:latin typeface="Calibri"/>
              </a:rPr>
              <a:t>US cultivars</a:t>
            </a:r>
          </a:p>
        </p:txBody>
      </p:sp>
      <p:sp>
        <p:nvSpPr>
          <p:cNvPr id="19" name="TextBox 18"/>
          <p:cNvSpPr txBox="1"/>
          <p:nvPr/>
        </p:nvSpPr>
        <p:spPr>
          <a:xfrm>
            <a:off x="6355080" y="4361688"/>
            <a:ext cx="5074920" cy="16002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The US-calibrated maize generics have kernel number and fill rate 25–65% above stock DSSAT. Bolivia zone cultivars replace them for maíz, arroz and sorgo.</a:t>
            </a:r>
          </a:p>
        </p:txBody>
      </p:sp>
      <p:sp>
        <p:nvSpPr>
          <p:cNvPr id="20" name="TextBox 19"/>
          <p:cNvSpPr txBox="1"/>
          <p:nvPr/>
        </p:nvSpPr>
        <p:spPr>
          <a:xfrm>
            <a:off x="6355080" y="5577840"/>
            <a:ext cx="5074920" cy="365760"/>
          </a:xfrm>
          <a:prstGeom prst="rect">
            <a:avLst/>
          </a:prstGeom>
          <a:noFill/>
        </p:spPr>
        <p:txBody>
          <a:bodyPr wrap="square" lIns="0" rIns="0" tIns="0" bIns="0" anchor="t">
            <a:spAutoFit/>
          </a:bodyPr>
          <a:lstStyle/>
          <a:p>
            <a:pPr algn="l"/>
            <a:r>
              <a:rPr sz="1000" b="0" i="0">
                <a:solidFill>
                  <a:srgbClr val="6B6A66"/>
                </a:solidFill>
                <a:latin typeface="Consolas"/>
              </a:rPr>
              <a:t>BOL LOWLAND · BOL VALLEYS · BOL ALTIPLANO · BOL SECANO · BOL GRANIFERO</a:t>
            </a:r>
          </a:p>
        </p:txBody>
      </p:sp>
      <p:sp>
        <p:nvSpPr>
          <p:cNvPr id="21" name="TextBox 20"/>
          <p:cNvSpPr txBox="1"/>
          <p:nvPr/>
        </p:nvSpPr>
        <p:spPr>
          <a:xfrm>
            <a:off x="548640" y="6080760"/>
            <a:ext cx="11064240" cy="274320"/>
          </a:xfrm>
          <a:prstGeom prst="rect">
            <a:avLst/>
          </a:prstGeom>
          <a:noFill/>
        </p:spPr>
        <p:txBody>
          <a:bodyPr wrap="square" lIns="0" rIns="0" tIns="0" bIns="0" anchor="t">
            <a:spAutoFit/>
          </a:bodyPr>
          <a:lstStyle/>
          <a:p>
            <a:pPr algn="l"/>
            <a:r>
              <a:rPr sz="1100" b="0" i="0">
                <a:solidFill>
                  <a:srgbClr val="6B6A66"/>
                </a:solidFill>
                <a:latin typeface="Calibri"/>
              </a:rPr>
              <a:t>Every switch defaults to upstream behaviour, so Tokki results stay reproducible from the same code.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Yield levels: from 2–2.5× too high to within 10% for three of five crops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8</a:t>
            </a:r>
          </a:p>
        </p:txBody>
      </p:sp>
      <p:graphicFrame>
        <p:nvGraphicFramePr>
          <p:cNvPr id="5" name="Chart 4"/>
          <p:cNvGraphicFramePr>
            <a:graphicFrameLocks noGrp="1"/>
          </p:cNvGraphicFramePr>
          <p:nvPr/>
        </p:nvGraphicFramePr>
        <p:xfrm>
          <a:off x="548640" y="1554480"/>
          <a:ext cx="6949440" cy="4663440"/>
        </p:xfrm>
        <a:graphic>
          <a:graphicData uri="http://schemas.openxmlformats.org/drawingml/2006/chart">
            <c:chart xmlns:c="http://schemas.openxmlformats.org/drawingml/2006/chart" r:id="rId2"/>
          </a:graphicData>
        </a:graphic>
      </p:graphicFrame>
      <p:sp>
        <p:nvSpPr>
          <p:cNvPr id="6" name="TextBox 5"/>
          <p:cNvSpPr txBox="1"/>
          <p:nvPr/>
        </p:nvSpPr>
        <p:spPr>
          <a:xfrm>
            <a:off x="548640" y="1234440"/>
            <a:ext cx="6949440" cy="274320"/>
          </a:xfrm>
          <a:prstGeom prst="rect">
            <a:avLst/>
          </a:prstGeom>
          <a:noFill/>
        </p:spPr>
        <p:txBody>
          <a:bodyPr wrap="square" lIns="0" rIns="0" tIns="0" bIns="0" anchor="t">
            <a:spAutoFit/>
          </a:bodyPr>
          <a:lstStyle/>
          <a:p>
            <a:pPr algn="l"/>
            <a:r>
              <a:rPr sz="1100" b="0" i="0">
                <a:solidFill>
                  <a:srgbClr val="6B6A66"/>
                </a:solidFill>
                <a:latin typeface="Calibri"/>
              </a:rPr>
              <a:t>Simulated ÷ observed national yield, dry matter, sowing years 2012–2024 (1.0 = INE level)</a:t>
            </a:r>
          </a:p>
        </p:txBody>
      </p:sp>
      <p:sp>
        <p:nvSpPr>
          <p:cNvPr id="7" name="TextBox 6"/>
          <p:cNvSpPr txBox="1"/>
          <p:nvPr/>
        </p:nvSpPr>
        <p:spPr>
          <a:xfrm>
            <a:off x="7863840" y="1371600"/>
            <a:ext cx="3840480" cy="4572000"/>
          </a:xfrm>
          <a:prstGeom prst="rect">
            <a:avLst/>
          </a:prstGeom>
          <a:noFill/>
        </p:spPr>
        <p:txBody>
          <a:bodyPr wrap="square" lIns="0" rIns="0" tIns="0" bIns="0" anchor="t">
            <a:spAutoFit/>
          </a:bodyPr>
          <a:lstStyle/>
          <a:p>
            <a:pPr algn="l">
              <a:spcAft>
                <a:spcPts val="500"/>
              </a:spcAft>
            </a:pPr>
            <a:r>
              <a:rPr sz="1100" b="1" i="0">
                <a:solidFill>
                  <a:srgbClr val="2C5F2D"/>
                </a:solidFill>
                <a:latin typeface="Calibri"/>
              </a:rPr>
              <a:t>•  </a:t>
            </a:r>
            <a:r>
              <a:rPr sz="1100" b="1" i="0">
                <a:solidFill>
                  <a:srgbClr val="1A1A19"/>
                </a:solidFill>
                <a:latin typeface="Calibri"/>
              </a:rPr>
              <a:t>What was wrong: </a:t>
            </a:r>
            <a:r>
              <a:rPr sz="1100" b="0" i="0">
                <a:solidFill>
                  <a:srgbClr val="1A1A19"/>
                </a:solidFill>
                <a:latin typeface="Calibri"/>
              </a:rPr>
              <a:t>the 1 January start, not the management table. Starting 60 days before sowing halved mineralised N and removed most of the bias on its own (60-cell sensitivity, 14 setups).</a:t>
            </a:r>
          </a:p>
          <a:p>
            <a:pPr algn="l">
              <a:spcAft>
                <a:spcPts val="500"/>
              </a:spcAft>
            </a:pPr>
            <a:r>
              <a:rPr sz="1100" b="1" i="0">
                <a:solidFill>
                  <a:srgbClr val="2C5F2D"/>
                </a:solidFill>
                <a:latin typeface="Calibri"/>
              </a:rPr>
              <a:t>•  </a:t>
            </a:r>
            <a:r>
              <a:rPr sz="1100" b="1" i="0">
                <a:solidFill>
                  <a:srgbClr val="1A1A19"/>
                </a:solidFill>
                <a:latin typeface="Calibri"/>
              </a:rPr>
              <a:t>Then cultivars: </a:t>
            </a:r>
            <a:r>
              <a:rPr sz="1100" b="0" i="0">
                <a:solidFill>
                  <a:srgbClr val="1A1A19"/>
                </a:solidFill>
                <a:latin typeface="Calibri"/>
              </a:rPr>
              <a:t>yield components set against INE by zone on department samples. Maíz is 1.19 nationally but ~1.0 in Santa Cruz, Tarija, Beni and Pando; the excess is in valley and Altiplano departments whose 1.0–1.3 t/ha the model does not reach down to.</a:t>
            </a:r>
          </a:p>
          <a:p>
            <a:pPr algn="l">
              <a:spcAft>
                <a:spcPts val="500"/>
              </a:spcAft>
            </a:pPr>
            <a:r>
              <a:rPr sz="1100" b="1" i="0">
                <a:solidFill>
                  <a:srgbClr val="2C5F2D"/>
                </a:solidFill>
                <a:latin typeface="Calibri"/>
              </a:rPr>
              <a:t>•  </a:t>
            </a:r>
            <a:r>
              <a:rPr sz="1100" b="1" i="0">
                <a:solidFill>
                  <a:srgbClr val="1A1A19"/>
                </a:solidFill>
                <a:latin typeface="Calibri"/>
              </a:rPr>
              <a:t>Trigo stays 1.7×: </a:t>
            </a:r>
            <a:r>
              <a:rPr sz="1100" b="0" i="0">
                <a:solidFill>
                  <a:srgbClr val="1A1A19"/>
                </a:solidFill>
                <a:latin typeface="Calibri"/>
              </a:rPr>
              <a:t>no genetic coefficient tested moves it. Blast, hail, frost and poor stands are the missing processes; handled as a bias factor, not hidden.</a:t>
            </a:r>
          </a:p>
          <a:p>
            <a:pPr algn="l">
              <a:spcAft>
                <a:spcPts val="500"/>
              </a:spcAft>
            </a:pPr>
            <a:r>
              <a:rPr sz="1100" b="1" i="0">
                <a:solidFill>
                  <a:srgbClr val="2C5F2D"/>
                </a:solidFill>
                <a:latin typeface="Calibri"/>
              </a:rPr>
              <a:t>•  </a:t>
            </a:r>
            <a:r>
              <a:rPr sz="1100" b="1" i="0">
                <a:solidFill>
                  <a:srgbClr val="1A1A19"/>
                </a:solidFill>
                <a:latin typeface="Calibri"/>
              </a:rPr>
              <a:t>Soya was right from the start </a:t>
            </a:r>
            <a:r>
              <a:rPr sz="1100" b="0" i="0">
                <a:solidFill>
                  <a:srgbClr val="1A1A19"/>
                </a:solidFill>
                <a:latin typeface="Calibri"/>
              </a:rPr>
              <a:t>(it fixes its own N) — which is why its level never moved.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Year-to-year skill: the weather signal is live for the lowland crops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9</a:t>
            </a:r>
          </a:p>
        </p:txBody>
      </p:sp>
      <p:graphicFrame>
        <p:nvGraphicFramePr>
          <p:cNvPr id="5" name="Chart 4"/>
          <p:cNvGraphicFramePr>
            <a:graphicFrameLocks noGrp="1"/>
          </p:cNvGraphicFramePr>
          <p:nvPr/>
        </p:nvGraphicFramePr>
        <p:xfrm>
          <a:off x="548640" y="1554480"/>
          <a:ext cx="6949440" cy="4663440"/>
        </p:xfrm>
        <a:graphic>
          <a:graphicData uri="http://schemas.openxmlformats.org/drawingml/2006/chart">
            <c:chart xmlns:c="http://schemas.openxmlformats.org/drawingml/2006/chart" r:id="rId2"/>
          </a:graphicData>
        </a:graphic>
      </p:graphicFrame>
      <p:sp>
        <p:nvSpPr>
          <p:cNvPr id="6" name="TextBox 5"/>
          <p:cNvSpPr txBox="1"/>
          <p:nvPr/>
        </p:nvSpPr>
        <p:spPr>
          <a:xfrm>
            <a:off x="548640" y="1234440"/>
            <a:ext cx="6949440" cy="274320"/>
          </a:xfrm>
          <a:prstGeom prst="rect">
            <a:avLst/>
          </a:prstGeom>
          <a:noFill/>
        </p:spPr>
        <p:txBody>
          <a:bodyPr wrap="square" lIns="0" rIns="0" tIns="0" bIns="0" anchor="t">
            <a:spAutoFit/>
          </a:bodyPr>
          <a:lstStyle/>
          <a:p>
            <a:pPr algn="l"/>
            <a:r>
              <a:rPr sz="1100" b="0" i="0">
                <a:solidFill>
                  <a:srgbClr val="6B6A66"/>
                </a:solidFill>
                <a:latin typeface="Calibri"/>
              </a:rPr>
              <a:t>Correlation of simulated and INE national yield anomalies, 12–13 overlapping years</a:t>
            </a:r>
          </a:p>
        </p:txBody>
      </p:sp>
      <p:sp>
        <p:nvSpPr>
          <p:cNvPr id="7" name="TextBox 6"/>
          <p:cNvSpPr txBox="1"/>
          <p:nvPr/>
        </p:nvSpPr>
        <p:spPr>
          <a:xfrm>
            <a:off x="7863840" y="1371600"/>
            <a:ext cx="3840480" cy="4572000"/>
          </a:xfrm>
          <a:prstGeom prst="rect">
            <a:avLst/>
          </a:prstGeom>
          <a:noFill/>
        </p:spPr>
        <p:txBody>
          <a:bodyPr wrap="square" lIns="0" rIns="0" tIns="0" bIns="0" anchor="t">
            <a:spAutoFit/>
          </a:bodyPr>
          <a:lstStyle/>
          <a:p>
            <a:pPr algn="l">
              <a:spcAft>
                <a:spcPts val="500"/>
              </a:spcAft>
            </a:pPr>
            <a:r>
              <a:rPr sz="1100" b="1" i="0">
                <a:solidFill>
                  <a:srgbClr val="2C5F2D"/>
                </a:solidFill>
                <a:latin typeface="Calibri"/>
              </a:rPr>
              <a:t>•  </a:t>
            </a:r>
            <a:r>
              <a:rPr sz="1100" b="1" i="0">
                <a:solidFill>
                  <a:srgbClr val="1A1A19"/>
                </a:solidFill>
                <a:latin typeface="Calibri"/>
              </a:rPr>
              <a:t>Sorgo and trigo in Santa Cruz </a:t>
            </a:r>
            <a:r>
              <a:rPr sz="1100" b="0" i="0">
                <a:solidFill>
                  <a:srgbClr val="1A1A19"/>
                </a:solidFill>
                <a:latin typeface="Calibri"/>
              </a:rPr>
              <a:t>track INE at 0.76 and 0.71 — the invierno crops read the autumn rainfall right</a:t>
            </a:r>
          </a:p>
          <a:p>
            <a:pPr algn="l">
              <a:spcAft>
                <a:spcPts val="500"/>
              </a:spcAft>
            </a:pPr>
            <a:r>
              <a:rPr sz="1100" b="1" i="0">
                <a:solidFill>
                  <a:srgbClr val="2C5F2D"/>
                </a:solidFill>
                <a:latin typeface="Calibri"/>
              </a:rPr>
              <a:t>•  </a:t>
            </a:r>
            <a:r>
              <a:rPr sz="1100" b="1" i="0">
                <a:solidFill>
                  <a:srgbClr val="1A1A19"/>
                </a:solidFill>
                <a:latin typeface="Calibri"/>
              </a:rPr>
              <a:t>Arroz </a:t>
            </a:r>
            <a:r>
              <a:rPr sz="1100" b="0" i="0">
                <a:solidFill>
                  <a:srgbClr val="1A1A19"/>
                </a:solidFill>
                <a:latin typeface="Calibri"/>
              </a:rPr>
              <a:t>improved to 0.66; maíz slipped from 0.61 to 0.42 as its level was fixed — twelve years cannot say whether that is real, and valley and Altiplano maize carry almost no signal</a:t>
            </a:r>
          </a:p>
          <a:p>
            <a:pPr algn="l">
              <a:spcAft>
                <a:spcPts val="500"/>
              </a:spcAft>
            </a:pPr>
            <a:r>
              <a:rPr sz="1100" b="1" i="0">
                <a:solidFill>
                  <a:srgbClr val="2C5F2D"/>
                </a:solidFill>
                <a:latin typeface="Calibri"/>
              </a:rPr>
              <a:t>•  </a:t>
            </a:r>
            <a:r>
              <a:rPr sz="1100" b="1" i="0">
                <a:solidFill>
                  <a:srgbClr val="1A1A19"/>
                </a:solidFill>
                <a:latin typeface="Calibri"/>
              </a:rPr>
              <a:t>Soya is the weak crop </a:t>
            </a:r>
            <a:r>
              <a:rPr sz="1100" b="0" i="0">
                <a:solidFill>
                  <a:srgbClr val="1A1A19"/>
                </a:solidFill>
                <a:latin typeface="Calibri"/>
              </a:rPr>
              <a:t>(0.28) despite the right level — slide 12 explains why</a:t>
            </a:r>
          </a:p>
          <a:p>
            <a:pPr algn="l">
              <a:spcAft>
                <a:spcPts val="500"/>
              </a:spcAft>
            </a:pPr>
            <a:r>
              <a:rPr sz="1100" b="1" i="0">
                <a:solidFill>
                  <a:srgbClr val="2C5F2D"/>
                </a:solidFill>
                <a:latin typeface="Calibri"/>
              </a:rPr>
              <a:t>•  </a:t>
            </a:r>
            <a:r>
              <a:rPr sz="1100" b="1" i="0">
                <a:solidFill>
                  <a:srgbClr val="1A1A19"/>
                </a:solidFill>
                <a:latin typeface="Calibri"/>
              </a:rPr>
              <a:t>Caveat: </a:t>
            </a:r>
            <a:r>
              <a:rPr sz="1100" b="0" i="0">
                <a:solidFill>
                  <a:srgbClr val="1A1A19"/>
                </a:solidFill>
                <a:latin typeface="Calibri"/>
              </a:rPr>
              <a:t>twelve years is a short record; these correlations have wide intervals and say the mechanism is live, not that the model is validated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Model against INE, 2012–2024: sorgo and maíz</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10</a:t>
            </a:r>
          </a:p>
        </p:txBody>
      </p:sp>
      <p:graphicFrame>
        <p:nvGraphicFramePr>
          <p:cNvPr id="5" name="Chart 4"/>
          <p:cNvGraphicFramePr>
            <a:graphicFrameLocks noGrp="1"/>
          </p:cNvGraphicFramePr>
          <p:nvPr/>
        </p:nvGraphicFramePr>
        <p:xfrm>
          <a:off x="548640" y="1600200"/>
          <a:ext cx="5394960" cy="411480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6263640" y="1600200"/>
          <a:ext cx="5394960" cy="4114800"/>
        </p:xfrm>
        <a:graphic>
          <a:graphicData uri="http://schemas.openxmlformats.org/drawingml/2006/chart">
            <c:chart xmlns:c="http://schemas.openxmlformats.org/drawingml/2006/chart" r:id="rId3"/>
          </a:graphicData>
        </a:graphic>
      </p:graphicFrame>
      <p:sp>
        <p:nvSpPr>
          <p:cNvPr id="7" name="TextBox 6"/>
          <p:cNvSpPr txBox="1"/>
          <p:nvPr/>
        </p:nvSpPr>
        <p:spPr>
          <a:xfrm>
            <a:off x="548640" y="1097280"/>
            <a:ext cx="11064240" cy="457200"/>
          </a:xfrm>
          <a:prstGeom prst="rect">
            <a:avLst/>
          </a:prstGeom>
          <a:noFill/>
        </p:spPr>
        <p:txBody>
          <a:bodyPr wrap="square" lIns="0" rIns="0" tIns="0" bIns="0" anchor="t">
            <a:spAutoFit/>
          </a:bodyPr>
          <a:lstStyle/>
          <a:p>
            <a:pPr algn="l"/>
            <a:r>
              <a:rPr sz="1200" b="0" i="0">
                <a:solidFill>
                  <a:srgbClr val="6B6A66"/>
                </a:solidFill>
                <a:latin typeface="Calibri"/>
              </a:rPr>
              <a:t>Sorgo invierno is the cleanest test: sown Apr–Jun on residual moisture, its 2016 and 2021–22 collapses are reproduced. Maíz verano follows the same drought years (2015/16, 2023/24) with less fidelity in the valleys.</a:t>
            </a:r>
          </a:p>
        </p:txBody>
      </p:sp>
      <p:sp>
        <p:nvSpPr>
          <p:cNvPr id="8" name="TextBox 7"/>
          <p:cNvSpPr txBox="1"/>
          <p:nvPr/>
        </p:nvSpPr>
        <p:spPr>
          <a:xfrm>
            <a:off x="548640" y="5806440"/>
            <a:ext cx="11064240" cy="457200"/>
          </a:xfrm>
          <a:prstGeom prst="rect">
            <a:avLst/>
          </a:prstGeom>
          <a:noFill/>
        </p:spPr>
        <p:txBody>
          <a:bodyPr wrap="square" lIns="0" rIns="0" tIns="0" bIns="0" anchor="t">
            <a:spAutoFit/>
          </a:bodyPr>
          <a:lstStyle/>
          <a:p>
            <a:pPr algn="l"/>
            <a:r>
              <a:rPr sz="1100" b="0" i="0">
                <a:solidFill>
                  <a:srgbClr val="6B6A66"/>
                </a:solidFill>
                <a:latin typeface="Calibri"/>
              </a:rPr>
              <a:t>INE departmental series exist only from 2012; the 1984–2011 series needed for a longer validation has been requested.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The model sees the El Niño droughts in the Santa Cruz plain</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11</a:t>
            </a:r>
          </a:p>
        </p:txBody>
      </p:sp>
      <p:pic>
        <p:nvPicPr>
          <p:cNvPr id="5" name="Picture 4" descr="map_anom_maize_elnino_years.png"/>
          <p:cNvPicPr>
            <a:picLocks noChangeAspect="1"/>
          </p:cNvPicPr>
          <p:nvPr/>
        </p:nvPicPr>
        <p:blipFill>
          <a:blip r:embed="rId2"/>
          <a:stretch>
            <a:fillRect/>
          </a:stretch>
        </p:blipFill>
        <p:spPr>
          <a:xfrm>
            <a:off x="457200" y="1280160"/>
            <a:ext cx="11247120" cy="3782257"/>
          </a:xfrm>
          <a:prstGeom prst="rect">
            <a:avLst/>
          </a:prstGeom>
        </p:spPr>
      </p:pic>
      <p:sp>
        <p:nvSpPr>
          <p:cNvPr id="6" name="TextBox 5"/>
          <p:cNvSpPr txBox="1"/>
          <p:nvPr/>
        </p:nvSpPr>
        <p:spPr>
          <a:xfrm>
            <a:off x="548640" y="5029200"/>
            <a:ext cx="11064240" cy="1097280"/>
          </a:xfrm>
          <a:prstGeom prst="rect">
            <a:avLst/>
          </a:prstGeom>
          <a:noFill/>
        </p:spPr>
        <p:txBody>
          <a:bodyPr wrap="square" lIns="0" rIns="0" tIns="0" bIns="0" anchor="t">
            <a:spAutoFit/>
          </a:bodyPr>
          <a:lstStyle/>
          <a:p>
            <a:pPr algn="l"/>
            <a:r>
              <a:rPr sz="1200" b="0" i="0">
                <a:solidFill>
                  <a:srgbClr val="1A1A19"/>
                </a:solidFill>
                <a:latin typeface="Calibri"/>
              </a:rPr>
              <a:t>Simulated maíz yield anomaly per cell in the three strong eastern-Pacific El Niño campaigns since 1983. Santa Cruz loses 20–60%; the Altiplano and valleys show a weaker and sometimes opposite response, consistent with the literature's "drier highlands, wetter/variable lowlands" picture only in part — Phase 3 tests this properly, per crop and per zone.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Preview: strong El Niño campaigns are the lowest simulated maíz years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12</a:t>
            </a:r>
          </a:p>
        </p:txBody>
      </p:sp>
      <p:pic>
        <p:nvPicPr>
          <p:cNvPr id="5" name="Picture 4" descr="chart_enso_preview.png"/>
          <p:cNvPicPr>
            <a:picLocks noChangeAspect="1"/>
          </p:cNvPicPr>
          <p:nvPr/>
        </p:nvPicPr>
        <p:blipFill>
          <a:blip r:embed="rId2"/>
          <a:stretch>
            <a:fillRect/>
          </a:stretch>
        </p:blipFill>
        <p:spPr>
          <a:xfrm>
            <a:off x="1097280" y="1188720"/>
            <a:ext cx="9966960" cy="4696561"/>
          </a:xfrm>
          <a:prstGeom prst="rect">
            <a:avLst/>
          </a:prstGeom>
        </p:spPr>
      </p:pic>
      <p:sp>
        <p:nvSpPr>
          <p:cNvPr id="6" name="TextBox 5"/>
          <p:cNvSpPr txBox="1"/>
          <p:nvPr/>
        </p:nvSpPr>
        <p:spPr>
          <a:xfrm>
            <a:off x="548640" y="5806440"/>
            <a:ext cx="11064240" cy="548640"/>
          </a:xfrm>
          <a:prstGeom prst="rect">
            <a:avLst/>
          </a:prstGeom>
          <a:noFill/>
        </p:spPr>
        <p:txBody>
          <a:bodyPr wrap="square" lIns="0" rIns="0" tIns="0" bIns="0" anchor="t">
            <a:spAutoFit/>
          </a:bodyPr>
          <a:lstStyle/>
          <a:p>
            <a:pPr algn="l"/>
            <a:r>
              <a:rPr sz="1100" b="0" i="0">
                <a:solidFill>
                  <a:srgbClr val="6B6A66"/>
                </a:solidFill>
                <a:latin typeface="Calibri"/>
              </a:rPr>
              <a:t>Detrended national anomalies vs the DJF Oceanic Niño Index. Simulated soya carries a downward trend of 1.2% per year linked to rising maximum temperatures in the reanalysis, which INE does not show — a Phase 3 check before any composite is quoted.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Soya: right level, wrong weather response — a structural limit</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13</a:t>
            </a:r>
          </a:p>
        </p:txBody>
      </p:sp>
      <p:graphicFrame>
        <p:nvGraphicFramePr>
          <p:cNvPr id="5" name="Chart 4"/>
          <p:cNvGraphicFramePr>
            <a:graphicFrameLocks noGrp="1"/>
          </p:cNvGraphicFramePr>
          <p:nvPr/>
        </p:nvGraphicFramePr>
        <p:xfrm>
          <a:off x="548640" y="1554480"/>
          <a:ext cx="6766560" cy="4480560"/>
        </p:xfrm>
        <a:graphic>
          <a:graphicData uri="http://schemas.openxmlformats.org/drawingml/2006/chart">
            <c:chart xmlns:c="http://schemas.openxmlformats.org/drawingml/2006/chart" r:id="rId2"/>
          </a:graphicData>
        </a:graphic>
      </p:graphicFrame>
      <p:sp>
        <p:nvSpPr>
          <p:cNvPr id="6" name="TextBox 5"/>
          <p:cNvSpPr txBox="1"/>
          <p:nvPr/>
        </p:nvSpPr>
        <p:spPr>
          <a:xfrm>
            <a:off x="548640" y="1234440"/>
            <a:ext cx="6766560" cy="274320"/>
          </a:xfrm>
          <a:prstGeom prst="rect">
            <a:avLst/>
          </a:prstGeom>
          <a:noFill/>
        </p:spPr>
        <p:txBody>
          <a:bodyPr wrap="square" lIns="0" rIns="0" tIns="0" bIns="0" anchor="t">
            <a:spAutoFit/>
          </a:bodyPr>
          <a:lstStyle/>
          <a:p>
            <a:pPr algn="l"/>
            <a:r>
              <a:rPr sz="1100" b="0" i="0">
                <a:solidFill>
                  <a:srgbClr val="6B6A66"/>
                </a:solidFill>
                <a:latin typeface="Calibri"/>
              </a:rPr>
              <a:t>Correlation of Santa Cruz soya yield with Nov–Mar weather indicators, sowing years 2012–2023 (n = 12)</a:t>
            </a:r>
          </a:p>
        </p:txBody>
      </p:sp>
      <p:sp>
        <p:nvSpPr>
          <p:cNvPr id="7" name="TextBox 6"/>
          <p:cNvSpPr txBox="1"/>
          <p:nvPr/>
        </p:nvSpPr>
        <p:spPr>
          <a:xfrm>
            <a:off x="7680960" y="1371600"/>
            <a:ext cx="4023360" cy="4572000"/>
          </a:xfrm>
          <a:prstGeom prst="rect">
            <a:avLst/>
          </a:prstGeom>
          <a:noFill/>
        </p:spPr>
        <p:txBody>
          <a:bodyPr wrap="square" lIns="0" rIns="0" tIns="0" bIns="0" anchor="t">
            <a:spAutoFit/>
          </a:bodyPr>
          <a:lstStyle/>
          <a:p>
            <a:pPr algn="l">
              <a:spcAft>
                <a:spcPts val="500"/>
              </a:spcAft>
            </a:pPr>
            <a:r>
              <a:rPr sz="1100" b="1" i="0">
                <a:solidFill>
                  <a:srgbClr val="2C5F2D"/>
                </a:solidFill>
                <a:latin typeface="Calibri"/>
              </a:rPr>
              <a:t>•  </a:t>
            </a:r>
            <a:r>
              <a:rPr sz="1100" b="1" i="0">
                <a:solidFill>
                  <a:srgbClr val="1A1A19"/>
                </a:solidFill>
                <a:latin typeface="Calibri"/>
              </a:rPr>
              <a:t>Observed soya </a:t>
            </a:r>
            <a:r>
              <a:rPr sz="1100" b="0" i="0">
                <a:solidFill>
                  <a:srgbClr val="1A1A19"/>
                </a:solidFill>
                <a:latin typeface="Calibri"/>
              </a:rPr>
              <a:t>is indifferent to rainfall total and loses to heavy-rain days, dry spells and heat</a:t>
            </a:r>
          </a:p>
          <a:p>
            <a:pPr algn="l">
              <a:spcAft>
                <a:spcPts val="500"/>
              </a:spcAft>
            </a:pPr>
            <a:r>
              <a:rPr sz="1100" b="1" i="0">
                <a:solidFill>
                  <a:srgbClr val="2C5F2D"/>
                </a:solidFill>
                <a:latin typeface="Calibri"/>
              </a:rPr>
              <a:t>•  </a:t>
            </a:r>
            <a:r>
              <a:rPr sz="1100" b="1" i="0">
                <a:solidFill>
                  <a:srgbClr val="1A1A19"/>
                </a:solidFill>
                <a:latin typeface="Calibri"/>
              </a:rPr>
              <a:t>Simulated soya </a:t>
            </a:r>
            <a:r>
              <a:rPr sz="1100" b="0" i="0">
                <a:solidFill>
                  <a:srgbClr val="1A1A19"/>
                </a:solidFill>
                <a:latin typeface="Calibri"/>
              </a:rPr>
              <a:t>loves rainfall and gains from wet days; it gets dry spells and heat right</a:t>
            </a:r>
          </a:p>
          <a:p>
            <a:pPr algn="l">
              <a:spcAft>
                <a:spcPts val="500"/>
              </a:spcAft>
            </a:pPr>
            <a:r>
              <a:rPr sz="1100" b="1" i="0">
                <a:solidFill>
                  <a:srgbClr val="2C5F2D"/>
                </a:solidFill>
                <a:latin typeface="Calibri"/>
              </a:rPr>
              <a:t>•  </a:t>
            </a:r>
            <a:r>
              <a:rPr sz="1100" b="1" i="0">
                <a:solidFill>
                  <a:srgbClr val="1A1A19"/>
                </a:solidFill>
                <a:latin typeface="Calibri"/>
              </a:rPr>
              <a:t>Why: </a:t>
            </a:r>
            <a:r>
              <a:rPr sz="1100" b="0" i="0">
                <a:solidFill>
                  <a:srgbClr val="1A1A19"/>
                </a:solidFill>
                <a:latin typeface="Calibri"/>
              </a:rPr>
              <a:t>the water-balance model has no waterlogging or harvest-loss channel, and the deep HC27 profiles never saturate — a 1 m rooting depth and slow drainage did not change the sign</a:t>
            </a:r>
          </a:p>
          <a:p>
            <a:pPr algn="l">
              <a:spcAft>
                <a:spcPts val="500"/>
              </a:spcAft>
            </a:pPr>
            <a:r>
              <a:rPr sz="1100" b="1" i="0">
                <a:solidFill>
                  <a:srgbClr val="2C5F2D"/>
                </a:solidFill>
                <a:latin typeface="Calibri"/>
              </a:rPr>
              <a:t>•  </a:t>
            </a:r>
            <a:r>
              <a:rPr sz="1100" b="1" i="0">
                <a:solidFill>
                  <a:srgbClr val="1A1A19"/>
                </a:solidFill>
                <a:latin typeface="Calibri"/>
              </a:rPr>
              <a:t>For Phase 3: </a:t>
            </a:r>
            <a:r>
              <a:rPr sz="1100" b="0" i="0">
                <a:solidFill>
                  <a:srgbClr val="1A1A19"/>
                </a:solidFill>
                <a:latin typeface="Calibri"/>
              </a:rPr>
              <a:t>use the model for the drought and heat channels and add a statistical excess-rain term fitted on the INE overlap, reported separately and labelled as such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3, first pass: the signal is in the strong eastern-Pacific events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14</a:t>
            </a:r>
          </a:p>
        </p:txBody>
      </p:sp>
      <p:pic>
        <p:nvPicPr>
          <p:cNvPr id="5" name="Picture 4" descr="chart_phase_composites_national.png"/>
          <p:cNvPicPr>
            <a:picLocks noChangeAspect="1"/>
          </p:cNvPicPr>
          <p:nvPr/>
        </p:nvPicPr>
        <p:blipFill>
          <a:blip r:embed="rId2"/>
          <a:stretch>
            <a:fillRect/>
          </a:stretch>
        </p:blipFill>
        <p:spPr>
          <a:xfrm>
            <a:off x="457200" y="1280160"/>
            <a:ext cx="11247120" cy="3302627"/>
          </a:xfrm>
          <a:prstGeom prst="rect">
            <a:avLst/>
          </a:prstGeom>
        </p:spPr>
      </p:pic>
      <p:sp>
        <p:nvSpPr>
          <p:cNvPr id="6" name="TextBox 5"/>
          <p:cNvSpPr txBox="1"/>
          <p:nvPr/>
        </p:nvSpPr>
        <p:spPr>
          <a:xfrm>
            <a:off x="548640" y="4343400"/>
            <a:ext cx="11064240" cy="1920240"/>
          </a:xfrm>
          <a:prstGeom prst="rect">
            <a:avLst/>
          </a:prstGeom>
          <a:noFill/>
        </p:spPr>
        <p:txBody>
          <a:bodyPr wrap="square" lIns="0" rIns="0" tIns="0" bIns="0" anchor="t">
            <a:spAutoFit/>
          </a:bodyPr>
          <a:lstStyle/>
          <a:p>
            <a:pPr algn="l">
              <a:spcAft>
                <a:spcPts val="400"/>
              </a:spcAft>
            </a:pPr>
            <a:r>
              <a:rPr sz="1100" b="1" i="0">
                <a:solidFill>
                  <a:srgbClr val="2C5F2D"/>
                </a:solidFill>
                <a:latin typeface="Calibri"/>
              </a:rPr>
              <a:t>•  </a:t>
            </a:r>
            <a:r>
              <a:rPr sz="1100" b="1" i="0">
                <a:solidFill>
                  <a:srgbClr val="1A1A19"/>
                </a:solidFill>
                <a:latin typeface="Calibri"/>
              </a:rPr>
              <a:t>El Niño as a class does nothing to the verano crops </a:t>
            </a:r>
            <a:r>
              <a:rPr sz="1100" b="0" i="0">
                <a:solidFill>
                  <a:srgbClr val="1A1A19"/>
                </a:solidFill>
                <a:latin typeface="Calibri"/>
              </a:rPr>
              <a:t>(soya, maíz, arroz within ±2% of neutral over 14 campaigns); the three eastern-Pacific analogues 1997/98, 2015/16 and 2023/24 cost them 18–20% nationally, intervals excluding zero</a:t>
            </a:r>
          </a:p>
          <a:p>
            <a:pPr algn="l">
              <a:spcAft>
                <a:spcPts val="400"/>
              </a:spcAft>
            </a:pPr>
            <a:r>
              <a:rPr sz="1100" b="1" i="0">
                <a:solidFill>
                  <a:srgbClr val="2C5F2D"/>
                </a:solidFill>
                <a:latin typeface="Calibri"/>
              </a:rPr>
              <a:t>•  </a:t>
            </a:r>
            <a:r>
              <a:rPr sz="1100" b="1" i="0">
                <a:solidFill>
                  <a:srgbClr val="1A1A19"/>
                </a:solidFill>
                <a:latin typeface="Calibri"/>
              </a:rPr>
              <a:t>The invierno crops gain during the El Niño build-up: </a:t>
            </a:r>
            <a:r>
              <a:rPr sz="1100" b="0" i="0">
                <a:solidFill>
                  <a:srgbClr val="1A1A19"/>
                </a:solidFill>
                <a:latin typeface="Calibri"/>
              </a:rPr>
              <a:t>sorgo +26%, trigo +13% in the winter before the peak; the developing La Niña costs sorgo −15%. The observed record agrees where it overlaps: 2023/24 matches on every crop</a:t>
            </a:r>
          </a:p>
          <a:p>
            <a:pPr algn="l">
              <a:spcAft>
                <a:spcPts val="400"/>
              </a:spcAft>
            </a:pPr>
            <a:r>
              <a:rPr sz="1100" b="1" i="0">
                <a:solidFill>
                  <a:srgbClr val="2C5F2D"/>
                </a:solidFill>
                <a:latin typeface="Calibri"/>
              </a:rPr>
              <a:t>•  </a:t>
            </a:r>
            <a:r>
              <a:rPr sz="1100" b="1" i="0">
                <a:solidFill>
                  <a:srgbClr val="1A1A19"/>
                </a:solidFill>
                <a:latin typeface="Calibri"/>
              </a:rPr>
              <a:t>Central-Pacific events (1991/92, 2009/10) are not drought years </a:t>
            </a:r>
            <a:r>
              <a:rPr sz="1100" b="0" i="0">
                <a:solidFill>
                  <a:srgbClr val="1A1A19"/>
                </a:solidFill>
                <a:latin typeface="Calibri"/>
              </a:rPr>
              <a:t>in the data or the model — the 2026/27 event (Niño-1+2 ≈ +3.4 °C) must be read against the EP analogues only</a:t>
            </a:r>
          </a:p>
          <a:p>
            <a:pPr algn="l">
              <a:spcAft>
                <a:spcPts val="400"/>
              </a:spcAft>
            </a:pPr>
            <a:r>
              <a:rPr sz="1100" b="1" i="0">
                <a:solidFill>
                  <a:srgbClr val="2C5F2D"/>
                </a:solidFill>
                <a:latin typeface="Calibri"/>
              </a:rPr>
              <a:t>•  </a:t>
            </a:r>
            <a:r>
              <a:rPr sz="1100" b="1" i="0">
                <a:solidFill>
                  <a:srgbClr val="1A1A19"/>
                </a:solidFill>
                <a:latin typeface="Calibri"/>
              </a:rPr>
              <a:t>SENAMHI stations confirm the El Niño drying of the Altiplano (−11%) </a:t>
            </a:r>
            <a:r>
              <a:rPr sz="1100" b="0" i="0">
                <a:solidFill>
                  <a:srgbClr val="1A1A19"/>
                </a:solidFill>
                <a:latin typeface="Calibri"/>
              </a:rPr>
              <a:t>that the reanalysis only half reproduces; the highlands stay unresolved by this tool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3: the El Niño signal in observed weather and in the model input</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15</a:t>
            </a:r>
          </a:p>
        </p:txBody>
      </p:sp>
      <p:pic>
        <p:nvPicPr>
          <p:cNvPr id="5" name="Picture 4" descr="chart_weather_composites_rain.png"/>
          <p:cNvPicPr>
            <a:picLocks noChangeAspect="1"/>
          </p:cNvPicPr>
          <p:nvPr/>
        </p:nvPicPr>
        <p:blipFill>
          <a:blip r:embed="rId2"/>
          <a:stretch>
            <a:fillRect/>
          </a:stretch>
        </p:blipFill>
        <p:spPr>
          <a:xfrm>
            <a:off x="1828800" y="1188720"/>
            <a:ext cx="8503920" cy="3605025"/>
          </a:xfrm>
          <a:prstGeom prst="rect">
            <a:avLst/>
          </a:prstGeom>
        </p:spPr>
      </p:pic>
      <p:sp>
        <p:nvSpPr>
          <p:cNvPr id="6" name="TextBox 5"/>
          <p:cNvSpPr txBox="1"/>
          <p:nvPr/>
        </p:nvSpPr>
        <p:spPr>
          <a:xfrm>
            <a:off x="548640" y="4892040"/>
            <a:ext cx="11064240" cy="1371600"/>
          </a:xfrm>
          <a:prstGeom prst="rect">
            <a:avLst/>
          </a:prstGeom>
          <a:noFill/>
        </p:spPr>
        <p:txBody>
          <a:bodyPr wrap="square" lIns="0" rIns="0" tIns="0" bIns="0" anchor="t">
            <a:spAutoFit/>
          </a:bodyPr>
          <a:lstStyle/>
          <a:p>
            <a:pPr algn="l">
              <a:spcAft>
                <a:spcPts val="400"/>
              </a:spcAft>
            </a:pPr>
            <a:r>
              <a:rPr sz="1100" b="1" i="0">
                <a:solidFill>
                  <a:srgbClr val="2C5F2D"/>
                </a:solidFill>
                <a:latin typeface="Calibri"/>
              </a:rPr>
              <a:t>•  </a:t>
            </a:r>
            <a:r>
              <a:rPr sz="1100" b="1" i="0">
                <a:solidFill>
                  <a:srgbClr val="1A1A19"/>
                </a:solidFill>
                <a:latin typeface="Calibri"/>
              </a:rPr>
              <a:t>29 SENAMHI stations (1970–2009): </a:t>
            </a:r>
            <a:r>
              <a:rPr sz="1100" b="0" i="0">
                <a:solidFill>
                  <a:srgbClr val="1A1A19"/>
                </a:solidFill>
                <a:latin typeface="Calibri"/>
              </a:rPr>
              <a:t>El Niño campaigns are drier in the Altiplano (−11%, interval excluding zero) and valleys (−5%), not in the lowlands; La Niña is wetter everywhere; 1997/98 alone was −35% in the Altiplano</a:t>
            </a:r>
          </a:p>
          <a:p>
            <a:pPr algn="l">
              <a:spcAft>
                <a:spcPts val="400"/>
              </a:spcAft>
            </a:pPr>
            <a:r>
              <a:rPr sz="1100" b="1" i="0">
                <a:solidFill>
                  <a:srgbClr val="2C5F2D"/>
                </a:solidFill>
                <a:latin typeface="Calibri"/>
              </a:rPr>
              <a:t>•  </a:t>
            </a:r>
            <a:r>
              <a:rPr sz="1100" b="1" i="0">
                <a:solidFill>
                  <a:srgbClr val="1A1A19"/>
                </a:solidFill>
                <a:latin typeface="Calibri"/>
              </a:rPr>
              <a:t>The reanalysis that drives the model reproduces half of the Altiplano deficit </a:t>
            </a:r>
            <a:r>
              <a:rPr sz="1100" b="0" i="0">
                <a:solidFill>
                  <a:srgbClr val="1A1A19"/>
                </a:solidFill>
                <a:latin typeface="Calibri"/>
              </a:rPr>
              <a:t>(−5%), so highland results are conservative; in both datasets the signal is carried by the strong eastern-Pacific events (−17 to −19% in every zone), not by El Niño as a class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3: where the strong eastern-Pacific losses and gains sit</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16</a:t>
            </a:r>
          </a:p>
        </p:txBody>
      </p:sp>
      <p:pic>
        <p:nvPicPr>
          <p:cNvPr id="5" name="Picture 4" descr="map_strongEP_composite_by_crop.png"/>
          <p:cNvPicPr>
            <a:picLocks noChangeAspect="1"/>
          </p:cNvPicPr>
          <p:nvPr/>
        </p:nvPicPr>
        <p:blipFill>
          <a:blip r:embed="rId2"/>
          <a:stretch>
            <a:fillRect/>
          </a:stretch>
        </p:blipFill>
        <p:spPr>
          <a:xfrm>
            <a:off x="457200" y="1371600"/>
            <a:ext cx="11247120" cy="2705758"/>
          </a:xfrm>
          <a:prstGeom prst="rect">
            <a:avLst/>
          </a:prstGeom>
        </p:spPr>
      </p:pic>
      <p:sp>
        <p:nvSpPr>
          <p:cNvPr id="6" name="TextBox 5"/>
          <p:cNvSpPr txBox="1"/>
          <p:nvPr/>
        </p:nvSpPr>
        <p:spPr>
          <a:xfrm>
            <a:off x="548640" y="4846320"/>
            <a:ext cx="11064240" cy="1280160"/>
          </a:xfrm>
          <a:prstGeom prst="rect">
            <a:avLst/>
          </a:prstGeom>
          <a:noFill/>
        </p:spPr>
        <p:txBody>
          <a:bodyPr wrap="square" lIns="0" rIns="0" tIns="0" bIns="0" anchor="t">
            <a:spAutoFit/>
          </a:bodyPr>
          <a:lstStyle/>
          <a:p>
            <a:pPr algn="l"/>
            <a:r>
              <a:rPr sz="1200" b="0" i="0">
                <a:solidFill>
                  <a:srgbClr val="1A1A19"/>
                </a:solidFill>
                <a:latin typeface="Calibri"/>
              </a:rPr>
              <a:t>Mean detrended yield anomaly per cell over 1997/98, 2015/16 and 2023/24. Soya, maíz and arroz lose across the Santa Cruz plain and the Chiquitanía; sorgo and trigo, the invierno crops sown while the El Niño was building, gain there. Altiplano maíz shows the opposite sign — the model is cold-limited there and the reanalysis under-represents the drying, so that sign is unresolved, not a result.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4: what the October SEAS5 forecast says for Nov–Mar 2026/27</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17</a:t>
            </a:r>
          </a:p>
        </p:txBody>
      </p:sp>
      <p:pic>
        <p:nvPicPr>
          <p:cNvPr id="5" name="Picture 4" descr="chart_seas5_2026-10_vs_analogues.png"/>
          <p:cNvPicPr>
            <a:picLocks noChangeAspect="1"/>
          </p:cNvPicPr>
          <p:nvPr/>
        </p:nvPicPr>
        <p:blipFill>
          <a:blip r:embed="rId2"/>
          <a:stretch>
            <a:fillRect/>
          </a:stretch>
        </p:blipFill>
        <p:spPr>
          <a:xfrm>
            <a:off x="1097280" y="1234440"/>
            <a:ext cx="9966960" cy="3571457"/>
          </a:xfrm>
          <a:prstGeom prst="rect">
            <a:avLst/>
          </a:prstGeom>
        </p:spPr>
      </p:pic>
      <p:sp>
        <p:nvSpPr>
          <p:cNvPr id="6" name="TextBox 5"/>
          <p:cNvSpPr txBox="1"/>
          <p:nvPr/>
        </p:nvSpPr>
        <p:spPr>
          <a:xfrm>
            <a:off x="548640" y="5029200"/>
            <a:ext cx="11064240" cy="1280160"/>
          </a:xfrm>
          <a:prstGeom prst="rect">
            <a:avLst/>
          </a:prstGeom>
          <a:noFill/>
        </p:spPr>
        <p:txBody>
          <a:bodyPr wrap="square" lIns="0" rIns="0" tIns="0" bIns="0" anchor="t">
            <a:spAutoFit/>
          </a:bodyPr>
          <a:lstStyle/>
          <a:p>
            <a:pPr algn="l">
              <a:spcAft>
                <a:spcPts val="300"/>
              </a:spcAft>
            </a:pPr>
            <a:r>
              <a:rPr sz="1100" b="1" i="0">
                <a:solidFill>
                  <a:srgbClr val="2C5F2D"/>
                </a:solidFill>
                <a:latin typeface="Calibri"/>
              </a:rPr>
              <a:t>•  </a:t>
            </a:r>
            <a:r>
              <a:rPr sz="1100" b="1" i="0">
                <a:solidFill>
                  <a:srgbClr val="1A1A19"/>
                </a:solidFill>
                <a:latin typeface="Calibri"/>
              </a:rPr>
              <a:t>51 ECMWF members: </a:t>
            </a:r>
            <a:r>
              <a:rPr sz="1100" b="0" i="0">
                <a:solidFill>
                  <a:srgbClr val="1A1A19"/>
                </a:solidFill>
                <a:latin typeface="Calibri"/>
              </a:rPr>
              <a:t>Altiplano rainfall -37% with every member dry (80% between -52 and -19%), valleys -7%, lowlands +3% with a wide spread; temperatures +1.3 to +2.5 °C across the zones</a:t>
            </a:r>
          </a:p>
          <a:p>
            <a:pPr algn="l">
              <a:spcAft>
                <a:spcPts val="300"/>
              </a:spcAft>
            </a:pPr>
            <a:r>
              <a:rPr sz="1100" b="1" i="0">
                <a:solidFill>
                  <a:srgbClr val="2C5F2D"/>
                </a:solidFill>
                <a:latin typeface="Calibri"/>
              </a:rPr>
              <a:t>•  </a:t>
            </a:r>
            <a:r>
              <a:rPr sz="1100" b="1" i="0">
                <a:solidFill>
                  <a:srgbClr val="1A1A19"/>
                </a:solidFill>
                <a:latin typeface="Calibri"/>
              </a:rPr>
              <a:t>In the lowlands and valleys the members cluster around 1997/98 and 2015/16; </a:t>
            </a:r>
            <a:r>
              <a:rPr sz="1100" b="0" i="0">
                <a:solidFill>
                  <a:srgbClr val="1A1A19"/>
                </a:solidFill>
                <a:latin typeface="Calibri"/>
              </a:rPr>
              <a:t>in the Altiplano the forecast is drier and warmer than any campaign since 1983 — beyond what the analogue method can represent there</a:t>
            </a:r>
          </a:p>
          <a:p>
            <a:pPr algn="l">
              <a:spcAft>
                <a:spcPts val="300"/>
              </a:spcAft>
            </a:pPr>
            <a:r>
              <a:rPr sz="1100" b="1" i="0">
                <a:solidFill>
                  <a:srgbClr val="2C5F2D"/>
                </a:solidFill>
                <a:latin typeface="Calibri"/>
              </a:rPr>
              <a:t>•  </a:t>
            </a:r>
            <a:r>
              <a:rPr sz="1100" b="1" i="0">
                <a:solidFill>
                  <a:srgbClr val="1A1A19"/>
                </a:solidFill>
                <a:latin typeface="Calibri"/>
              </a:rPr>
              <a:t>Each past campaign is weighted by its closeness to the members: </a:t>
            </a:r>
            <a:r>
              <a:rPr sz="1100" b="0" i="0">
                <a:solidFill>
                  <a:srgbClr val="1A1A19"/>
                </a:solidFill>
                <a:latin typeface="Calibri"/>
              </a:rPr>
              <a:t>34% of the weight falls on 1997/98, 2015/16 and 2023/24, 55% on El Niño campaigns, 19% on La Niña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4: the 2026/27 verano outlook, with the invierno 2026 already in</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18</a:t>
            </a:r>
          </a:p>
        </p:txBody>
      </p:sp>
      <p:graphicFrame>
        <p:nvGraphicFramePr>
          <p:cNvPr id="5" name="Chart 4"/>
          <p:cNvGraphicFramePr>
            <a:graphicFrameLocks noGrp="1"/>
          </p:cNvGraphicFramePr>
          <p:nvPr/>
        </p:nvGraphicFramePr>
        <p:xfrm>
          <a:off x="548640" y="1554480"/>
          <a:ext cx="6766560" cy="4480560"/>
        </p:xfrm>
        <a:graphic>
          <a:graphicData uri="http://schemas.openxmlformats.org/drawingml/2006/chart">
            <c:chart xmlns:c="http://schemas.openxmlformats.org/drawingml/2006/chart" r:id="rId2"/>
          </a:graphicData>
        </a:graphic>
      </p:graphicFrame>
      <p:sp>
        <p:nvSpPr>
          <p:cNvPr id="6" name="TextBox 5"/>
          <p:cNvSpPr txBox="1"/>
          <p:nvPr/>
        </p:nvSpPr>
        <p:spPr>
          <a:xfrm>
            <a:off x="548640" y="1234440"/>
            <a:ext cx="6766560" cy="274320"/>
          </a:xfrm>
          <a:prstGeom prst="rect">
            <a:avLst/>
          </a:prstGeom>
          <a:noFill/>
        </p:spPr>
        <p:txBody>
          <a:bodyPr wrap="square" lIns="0" rIns="0" tIns="0" bIns="0" anchor="t">
            <a:spAutoFit/>
          </a:bodyPr>
          <a:lstStyle/>
          <a:p>
            <a:pPr algn="l"/>
            <a:r>
              <a:rPr sz="1100" b="0" i="0">
                <a:solidFill>
                  <a:srgbClr val="6B6A66"/>
                </a:solidFill>
                <a:latin typeface="Calibri"/>
              </a:rPr>
              <a:t>Simulated 2026/27 national yield, % of the mean over all 42 analogue seasons (same management, same cells)</a:t>
            </a:r>
          </a:p>
        </p:txBody>
      </p:sp>
      <p:sp>
        <p:nvSpPr>
          <p:cNvPr id="7" name="Rounded Rectangle 6"/>
          <p:cNvSpPr/>
          <p:nvPr/>
        </p:nvSpPr>
        <p:spPr>
          <a:xfrm>
            <a:off x="7680960" y="1325880"/>
            <a:ext cx="3931920" cy="489204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463040"/>
            <a:ext cx="3566160" cy="365760"/>
          </a:xfrm>
          <a:prstGeom prst="rect">
            <a:avLst/>
          </a:prstGeom>
          <a:noFill/>
        </p:spPr>
        <p:txBody>
          <a:bodyPr wrap="square" lIns="0" rIns="0" tIns="0" bIns="0" anchor="t">
            <a:spAutoFit/>
          </a:bodyPr>
          <a:lstStyle/>
          <a:p>
            <a:pPr algn="l"/>
            <a:r>
              <a:rPr sz="1200" b="1" i="0">
                <a:solidFill>
                  <a:srgbClr val="2C5F2D"/>
                </a:solidFill>
                <a:latin typeface="Calibri"/>
              </a:rPr>
              <a:t>Chance of a ≥10% national loss, SEAS5-weighted</a:t>
            </a:r>
          </a:p>
        </p:txBody>
      </p:sp>
      <p:sp>
        <p:nvSpPr>
          <p:cNvPr id="9" name="TextBox 8"/>
          <p:cNvSpPr txBox="1"/>
          <p:nvPr/>
        </p:nvSpPr>
        <p:spPr>
          <a:xfrm>
            <a:off x="7909560" y="1874519"/>
            <a:ext cx="1737360" cy="822960"/>
          </a:xfrm>
          <a:prstGeom prst="rect">
            <a:avLst/>
          </a:prstGeom>
          <a:noFill/>
        </p:spPr>
        <p:txBody>
          <a:bodyPr wrap="square" lIns="0" rIns="0" tIns="0" bIns="0" anchor="b">
            <a:spAutoFit/>
          </a:bodyPr>
          <a:lstStyle/>
          <a:p>
            <a:pPr algn="l"/>
            <a:r>
              <a:rPr sz="4000" b="1" i="0">
                <a:solidFill>
                  <a:srgbClr val="2C5F2D"/>
                </a:solidFill>
                <a:latin typeface="Cambria"/>
              </a:rPr>
              <a:t>38%</a:t>
            </a:r>
          </a:p>
        </p:txBody>
      </p:sp>
      <p:sp>
        <p:nvSpPr>
          <p:cNvPr id="10" name="TextBox 9"/>
          <p:cNvSpPr txBox="1"/>
          <p:nvPr/>
        </p:nvSpPr>
        <p:spPr>
          <a:xfrm>
            <a:off x="7909560" y="2715768"/>
            <a:ext cx="1737360" cy="548640"/>
          </a:xfrm>
          <a:prstGeom prst="rect">
            <a:avLst/>
          </a:prstGeom>
          <a:noFill/>
        </p:spPr>
        <p:txBody>
          <a:bodyPr wrap="square" lIns="0" rIns="0" tIns="0" bIns="0" anchor="t">
            <a:spAutoFit/>
          </a:bodyPr>
          <a:lstStyle/>
          <a:p>
            <a:pPr algn="l"/>
            <a:r>
              <a:rPr sz="1200" b="0" i="0">
                <a:solidFill>
                  <a:srgbClr val="6B6A66"/>
                </a:solidFill>
                <a:latin typeface="Calibri"/>
              </a:rPr>
              <a:t>Soya</a:t>
            </a:r>
          </a:p>
        </p:txBody>
      </p:sp>
      <p:sp>
        <p:nvSpPr>
          <p:cNvPr id="11" name="TextBox 10"/>
          <p:cNvSpPr txBox="1"/>
          <p:nvPr/>
        </p:nvSpPr>
        <p:spPr>
          <a:xfrm>
            <a:off x="9738360" y="1874519"/>
            <a:ext cx="1737360" cy="822960"/>
          </a:xfrm>
          <a:prstGeom prst="rect">
            <a:avLst/>
          </a:prstGeom>
          <a:noFill/>
        </p:spPr>
        <p:txBody>
          <a:bodyPr wrap="square" lIns="0" rIns="0" tIns="0" bIns="0" anchor="b">
            <a:spAutoFit/>
          </a:bodyPr>
          <a:lstStyle/>
          <a:p>
            <a:pPr algn="l"/>
            <a:r>
              <a:rPr sz="4000" b="1" i="0">
                <a:solidFill>
                  <a:srgbClr val="2C5F2D"/>
                </a:solidFill>
                <a:latin typeface="Cambria"/>
              </a:rPr>
              <a:t>47%</a:t>
            </a:r>
          </a:p>
        </p:txBody>
      </p:sp>
      <p:sp>
        <p:nvSpPr>
          <p:cNvPr id="12" name="TextBox 11"/>
          <p:cNvSpPr txBox="1"/>
          <p:nvPr/>
        </p:nvSpPr>
        <p:spPr>
          <a:xfrm>
            <a:off x="9738360" y="2715768"/>
            <a:ext cx="1737360" cy="548640"/>
          </a:xfrm>
          <a:prstGeom prst="rect">
            <a:avLst/>
          </a:prstGeom>
          <a:noFill/>
        </p:spPr>
        <p:txBody>
          <a:bodyPr wrap="square" lIns="0" rIns="0" tIns="0" bIns="0" anchor="t">
            <a:spAutoFit/>
          </a:bodyPr>
          <a:lstStyle/>
          <a:p>
            <a:pPr algn="l"/>
            <a:r>
              <a:rPr sz="1200" b="0" i="0">
                <a:solidFill>
                  <a:srgbClr val="6B6A66"/>
                </a:solidFill>
                <a:latin typeface="Calibri"/>
              </a:rPr>
              <a:t>Maíz</a:t>
            </a:r>
          </a:p>
        </p:txBody>
      </p:sp>
      <p:sp>
        <p:nvSpPr>
          <p:cNvPr id="13" name="TextBox 12"/>
          <p:cNvSpPr txBox="1"/>
          <p:nvPr/>
        </p:nvSpPr>
        <p:spPr>
          <a:xfrm>
            <a:off x="7909560" y="3246120"/>
            <a:ext cx="1737360" cy="822960"/>
          </a:xfrm>
          <a:prstGeom prst="rect">
            <a:avLst/>
          </a:prstGeom>
          <a:noFill/>
        </p:spPr>
        <p:txBody>
          <a:bodyPr wrap="square" lIns="0" rIns="0" tIns="0" bIns="0" anchor="b">
            <a:spAutoFit/>
          </a:bodyPr>
          <a:lstStyle/>
          <a:p>
            <a:pPr algn="l"/>
            <a:r>
              <a:rPr sz="4000" b="1" i="0">
                <a:solidFill>
                  <a:srgbClr val="2C5F2D"/>
                </a:solidFill>
                <a:latin typeface="Cambria"/>
              </a:rPr>
              <a:t>38%</a:t>
            </a:r>
          </a:p>
        </p:txBody>
      </p:sp>
      <p:sp>
        <p:nvSpPr>
          <p:cNvPr id="14" name="TextBox 13"/>
          <p:cNvSpPr txBox="1"/>
          <p:nvPr/>
        </p:nvSpPr>
        <p:spPr>
          <a:xfrm>
            <a:off x="7909560" y="4087368"/>
            <a:ext cx="1737360" cy="548640"/>
          </a:xfrm>
          <a:prstGeom prst="rect">
            <a:avLst/>
          </a:prstGeom>
          <a:noFill/>
        </p:spPr>
        <p:txBody>
          <a:bodyPr wrap="square" lIns="0" rIns="0" tIns="0" bIns="0" anchor="t">
            <a:spAutoFit/>
          </a:bodyPr>
          <a:lstStyle/>
          <a:p>
            <a:pPr algn="l"/>
            <a:r>
              <a:rPr sz="1200" b="0" i="0">
                <a:solidFill>
                  <a:srgbClr val="6B6A66"/>
                </a:solidFill>
                <a:latin typeface="Calibri"/>
              </a:rPr>
              <a:t>Arroz</a:t>
            </a:r>
          </a:p>
        </p:txBody>
      </p:sp>
      <p:sp>
        <p:nvSpPr>
          <p:cNvPr id="15" name="TextBox 14"/>
          <p:cNvSpPr txBox="1"/>
          <p:nvPr/>
        </p:nvSpPr>
        <p:spPr>
          <a:xfrm>
            <a:off x="7909560" y="4617720"/>
            <a:ext cx="3566160" cy="365760"/>
          </a:xfrm>
          <a:prstGeom prst="rect">
            <a:avLst/>
          </a:prstGeom>
          <a:noFill/>
        </p:spPr>
        <p:txBody>
          <a:bodyPr wrap="square" lIns="0" rIns="0" tIns="0" bIns="0" anchor="t">
            <a:spAutoFit/>
          </a:bodyPr>
          <a:lstStyle/>
          <a:p>
            <a:pPr algn="l"/>
            <a:r>
              <a:rPr sz="1200" b="1" i="0">
                <a:solidFill>
                  <a:srgbClr val="2C5F2D"/>
                </a:solidFill>
                <a:latin typeface="Calibri"/>
              </a:rPr>
              <a:t>Invierno 2026, already harvested (nowcast)</a:t>
            </a:r>
          </a:p>
        </p:txBody>
      </p:sp>
      <p:sp>
        <p:nvSpPr>
          <p:cNvPr id="16" name="TextBox 15"/>
          <p:cNvSpPr txBox="1"/>
          <p:nvPr/>
        </p:nvSpPr>
        <p:spPr>
          <a:xfrm>
            <a:off x="7909560" y="4983480"/>
            <a:ext cx="3566160" cy="1188720"/>
          </a:xfrm>
          <a:prstGeom prst="rect">
            <a:avLst/>
          </a:prstGeom>
          <a:noFill/>
        </p:spPr>
        <p:txBody>
          <a:bodyPr wrap="square" lIns="0" rIns="0" tIns="0" bIns="0" anchor="t">
            <a:spAutoFit/>
          </a:bodyPr>
          <a:lstStyle/>
          <a:p>
            <a:pPr algn="l"/>
            <a:r>
              <a:rPr sz="1100" b="0" i="0">
                <a:solidFill>
                  <a:srgbClr val="1A1A19"/>
                </a:solidFill>
                <a:latin typeface="Calibri"/>
              </a:rPr>
              <a:t>Santa Cruz sorgo +62% vs the hindcast trend (rank 39 of 43 seasons); trigo +29%. The developing-El Niño winter gain of Phase 3, under observed 2026 weather — checkable against INE when the invierno 2026 figures appear.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4: the spread is the result</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19</a:t>
            </a:r>
          </a:p>
        </p:txBody>
      </p:sp>
      <p:pic>
        <p:nvPicPr>
          <p:cNvPr id="5" name="Picture 4" descr="chart_2026_27_analogue_distribution.png"/>
          <p:cNvPicPr>
            <a:picLocks noChangeAspect="1"/>
          </p:cNvPicPr>
          <p:nvPr/>
        </p:nvPicPr>
        <p:blipFill>
          <a:blip r:embed="rId2"/>
          <a:stretch>
            <a:fillRect/>
          </a:stretch>
        </p:blipFill>
        <p:spPr>
          <a:xfrm>
            <a:off x="457200" y="1280160"/>
            <a:ext cx="11247120" cy="2873379"/>
          </a:xfrm>
          <a:prstGeom prst="rect">
            <a:avLst/>
          </a:prstGeom>
        </p:spPr>
      </p:pic>
      <p:sp>
        <p:nvSpPr>
          <p:cNvPr id="6" name="TextBox 5"/>
          <p:cNvSpPr txBox="1"/>
          <p:nvPr/>
        </p:nvSpPr>
        <p:spPr>
          <a:xfrm>
            <a:off x="548640" y="5029200"/>
            <a:ext cx="11064240" cy="1097280"/>
          </a:xfrm>
          <a:prstGeom prst="rect">
            <a:avLst/>
          </a:prstGeom>
          <a:noFill/>
        </p:spPr>
        <p:txBody>
          <a:bodyPr wrap="square" lIns="0" rIns="0" tIns="0" bIns="0" anchor="t">
            <a:spAutoFit/>
          </a:bodyPr>
          <a:lstStyle/>
          <a:p>
            <a:pPr algn="l"/>
            <a:r>
              <a:rPr sz="1200" b="0" i="0">
                <a:solidFill>
                  <a:srgbClr val="1A1A19"/>
                </a:solidFill>
                <a:latin typeface="Calibri"/>
              </a:rPr>
              <a:t>Each dot is the 2026/27 campaign simulated with one past campaign's weather from 2 October onward, with the real 2026 weather before that. The three strong eastern−Pacific analogues sit at the bottom for soya, maíz and arroz; the SEAS5−weighted range for soya still spans −41% to +20% between its 10th and 90th percentiles. Sorgo and Santa Cruz trigo show no spread because their season was already over at the splice date.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4: 2026/27 under strong eastern-Pacific weather, cell by cell</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20</a:t>
            </a:r>
          </a:p>
        </p:txBody>
      </p:sp>
      <p:pic>
        <p:nvPicPr>
          <p:cNvPr id="5" name="Picture 4" descr="map_2026_27_strongEP_vs_climatology.png"/>
          <p:cNvPicPr>
            <a:picLocks noChangeAspect="1"/>
          </p:cNvPicPr>
          <p:nvPr/>
        </p:nvPicPr>
        <p:blipFill>
          <a:blip r:embed="rId2"/>
          <a:stretch>
            <a:fillRect/>
          </a:stretch>
        </p:blipFill>
        <p:spPr>
          <a:xfrm>
            <a:off x="457200" y="1371600"/>
            <a:ext cx="11247120" cy="2705758"/>
          </a:xfrm>
          <a:prstGeom prst="rect">
            <a:avLst/>
          </a:prstGeom>
        </p:spPr>
      </p:pic>
      <p:sp>
        <p:nvSpPr>
          <p:cNvPr id="6" name="TextBox 5"/>
          <p:cNvSpPr txBox="1"/>
          <p:nvPr/>
        </p:nvSpPr>
        <p:spPr>
          <a:xfrm>
            <a:off x="548640" y="4846320"/>
            <a:ext cx="11064240" cy="1188720"/>
          </a:xfrm>
          <a:prstGeom prst="rect">
            <a:avLst/>
          </a:prstGeom>
          <a:noFill/>
        </p:spPr>
        <p:txBody>
          <a:bodyPr wrap="square" lIns="0" rIns="0" tIns="0" bIns="0" anchor="t">
            <a:spAutoFit/>
          </a:bodyPr>
          <a:lstStyle/>
          <a:p>
            <a:pPr algn="l"/>
            <a:r>
              <a:rPr sz="1200" b="0" i="0">
                <a:solidFill>
                  <a:srgbClr val="1A1A19"/>
                </a:solidFill>
                <a:latin typeface="Calibri"/>
              </a:rPr>
              <a:t>Mean over the 1997/98, 2015/16 and 2023/24 members relative to the all-analogue mean. The exposure is the Santa Cruz plain and the Chiquitanía for soya, maíz and arroz; the Altiplano, where SEAS5 is driest, is where this tool says least: no potato or quinoa, and a maíz response of the wrong sign in the reanalysis.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The weather behind the estimate: observed to date, forecast members, then analogues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21</a:t>
            </a:r>
          </a:p>
        </p:txBody>
      </p:sp>
      <p:sp>
        <p:nvSpPr>
          <p:cNvPr id="5" name="Rectangle 4"/>
          <p:cNvSpPr/>
          <p:nvPr/>
        </p:nvSpPr>
        <p:spPr>
          <a:xfrm>
            <a:off x="548640" y="1417320"/>
            <a:ext cx="3584448" cy="4572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463040"/>
            <a:ext cx="3383280" cy="411480"/>
          </a:xfrm>
          <a:prstGeom prst="rect">
            <a:avLst/>
          </a:prstGeom>
          <a:noFill/>
        </p:spPr>
        <p:txBody>
          <a:bodyPr wrap="square" lIns="0" rIns="0" tIns="0" bIns="0" anchor="ctr">
            <a:spAutoFit/>
          </a:bodyPr>
          <a:lstStyle/>
          <a:p>
            <a:pPr algn="l"/>
            <a:r>
              <a:rPr sz="1200" b="1" i="0">
                <a:solidFill>
                  <a:srgbClr val="FFFFFF"/>
                </a:solidFill>
                <a:latin typeface="Calibri"/>
              </a:rPr>
              <a:t>Observed: NASA POWER</a:t>
            </a:r>
          </a:p>
        </p:txBody>
      </p:sp>
      <p:sp>
        <p:nvSpPr>
          <p:cNvPr id="7" name="TextBox 6"/>
          <p:cNvSpPr txBox="1"/>
          <p:nvPr/>
        </p:nvSpPr>
        <p:spPr>
          <a:xfrm>
            <a:off x="548640" y="1938528"/>
            <a:ext cx="3566160" cy="274320"/>
          </a:xfrm>
          <a:prstGeom prst="rect">
            <a:avLst/>
          </a:prstGeom>
          <a:noFill/>
        </p:spPr>
        <p:txBody>
          <a:bodyPr wrap="square" lIns="0" rIns="0" tIns="0" bIns="0" anchor="t">
            <a:spAutoFit/>
          </a:bodyPr>
          <a:lstStyle/>
          <a:p>
            <a:pPr algn="l"/>
            <a:r>
              <a:rPr sz="1100" b="1" i="0">
                <a:solidFill>
                  <a:srgbClr val="1F3A22"/>
                </a:solidFill>
                <a:latin typeface="Calibri"/>
              </a:rPr>
              <a:t>1981 → 1 Oct 2026</a:t>
            </a:r>
          </a:p>
        </p:txBody>
      </p:sp>
      <p:sp>
        <p:nvSpPr>
          <p:cNvPr id="8" name="TextBox 7"/>
          <p:cNvSpPr txBox="1"/>
          <p:nvPr/>
        </p:nvSpPr>
        <p:spPr>
          <a:xfrm>
            <a:off x="548640" y="2212848"/>
            <a:ext cx="3566160" cy="548640"/>
          </a:xfrm>
          <a:prstGeom prst="rect">
            <a:avLst/>
          </a:prstGeom>
          <a:noFill/>
        </p:spPr>
        <p:txBody>
          <a:bodyPr wrap="square" lIns="0" rIns="0" tIns="0" bIns="0" anchor="t">
            <a:spAutoFit/>
          </a:bodyPr>
          <a:lstStyle/>
          <a:p>
            <a:pPr algn="l"/>
            <a:r>
              <a:rPr sz="1050" b="0" i="0">
                <a:solidFill>
                  <a:srgbClr val="6B6A66"/>
                </a:solidFill>
                <a:latin typeface="Calibri"/>
              </a:rPr>
              <a:t>Gauge-corrected reanalysis, daily, per cell</a:t>
            </a:r>
          </a:p>
        </p:txBody>
      </p:sp>
      <p:sp>
        <p:nvSpPr>
          <p:cNvPr id="9" name="Rectangle 8"/>
          <p:cNvSpPr/>
          <p:nvPr/>
        </p:nvSpPr>
        <p:spPr>
          <a:xfrm>
            <a:off x="4206240" y="1417320"/>
            <a:ext cx="4773168" cy="4572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15968" y="1463040"/>
            <a:ext cx="4572000" cy="411480"/>
          </a:xfrm>
          <a:prstGeom prst="rect">
            <a:avLst/>
          </a:prstGeom>
          <a:noFill/>
        </p:spPr>
        <p:txBody>
          <a:bodyPr wrap="square" lIns="0" rIns="0" tIns="0" bIns="0" anchor="ctr">
            <a:spAutoFit/>
          </a:bodyPr>
          <a:lstStyle/>
          <a:p>
            <a:pPr algn="l"/>
            <a:r>
              <a:rPr sz="1200" b="1" i="0">
                <a:solidFill>
                  <a:srgbClr val="FFFFFF"/>
                </a:solidFill>
                <a:latin typeface="Calibri"/>
              </a:rPr>
              <a:t>Forecast: ECMWF EC46 → SEAS5, 51 members</a:t>
            </a:r>
          </a:p>
        </p:txBody>
      </p:sp>
      <p:sp>
        <p:nvSpPr>
          <p:cNvPr id="11" name="TextBox 10"/>
          <p:cNvSpPr txBox="1"/>
          <p:nvPr/>
        </p:nvSpPr>
        <p:spPr>
          <a:xfrm>
            <a:off x="4206240" y="1938528"/>
            <a:ext cx="4754880" cy="274320"/>
          </a:xfrm>
          <a:prstGeom prst="rect">
            <a:avLst/>
          </a:prstGeom>
          <a:noFill/>
        </p:spPr>
        <p:txBody>
          <a:bodyPr wrap="square" lIns="0" rIns="0" tIns="0" bIns="0" anchor="t">
            <a:spAutoFit/>
          </a:bodyPr>
          <a:lstStyle/>
          <a:p>
            <a:pPr algn="l"/>
            <a:r>
              <a:rPr sz="1100" b="1" i="0">
                <a:solidFill>
                  <a:srgbClr val="1F3A22"/>
                </a:solidFill>
                <a:latin typeface="Calibri"/>
              </a:rPr>
              <a:t>2 Oct 2026 → 3 May 2027</a:t>
            </a:r>
          </a:p>
        </p:txBody>
      </p:sp>
      <p:sp>
        <p:nvSpPr>
          <p:cNvPr id="12" name="TextBox 11"/>
          <p:cNvSpPr txBox="1"/>
          <p:nvPr/>
        </p:nvSpPr>
        <p:spPr>
          <a:xfrm>
            <a:off x="4206240" y="2212848"/>
            <a:ext cx="4754880" cy="548640"/>
          </a:xfrm>
          <a:prstGeom prst="rect">
            <a:avLst/>
          </a:prstGeom>
          <a:noFill/>
        </p:spPr>
        <p:txBody>
          <a:bodyPr wrap="square" lIns="0" rIns="0" tIns="0" bIns="0" anchor="t">
            <a:spAutoFit/>
          </a:bodyPr>
          <a:lstStyle/>
          <a:p>
            <a:pPr algn="l"/>
            <a:r>
              <a:rPr sz="1050" b="0" i="0">
                <a:solidFill>
                  <a:srgbClr val="6B6A66"/>
                </a:solidFill>
                <a:latin typeface="Calibri"/>
              </a:rPr>
              <a:t>Served by Open-Meteo; each member bias-adjusted to the cell's own climatology</a:t>
            </a:r>
          </a:p>
        </p:txBody>
      </p:sp>
      <p:sp>
        <p:nvSpPr>
          <p:cNvPr id="13" name="Rectangle 12"/>
          <p:cNvSpPr/>
          <p:nvPr/>
        </p:nvSpPr>
        <p:spPr>
          <a:xfrm>
            <a:off x="9052559" y="1417320"/>
            <a:ext cx="2487168" cy="457200"/>
          </a:xfrm>
          <a:prstGeom prst="rect">
            <a:avLst/>
          </a:prstGeom>
          <a:solidFill>
            <a:srgbClr val="9B9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2287" y="1463040"/>
            <a:ext cx="2286000" cy="411480"/>
          </a:xfrm>
          <a:prstGeom prst="rect">
            <a:avLst/>
          </a:prstGeom>
          <a:noFill/>
        </p:spPr>
        <p:txBody>
          <a:bodyPr wrap="square" lIns="0" rIns="0" tIns="0" bIns="0" anchor="ctr">
            <a:spAutoFit/>
          </a:bodyPr>
          <a:lstStyle/>
          <a:p>
            <a:pPr algn="l"/>
            <a:r>
              <a:rPr sz="1200" b="1" i="0">
                <a:solidFill>
                  <a:srgbClr val="FFFFFF"/>
                </a:solidFill>
                <a:latin typeface="Calibri"/>
              </a:rPr>
              <a:t>Analogue tail</a:t>
            </a:r>
          </a:p>
        </p:txBody>
      </p:sp>
      <p:sp>
        <p:nvSpPr>
          <p:cNvPr id="15" name="TextBox 14"/>
          <p:cNvSpPr txBox="1"/>
          <p:nvPr/>
        </p:nvSpPr>
        <p:spPr>
          <a:xfrm>
            <a:off x="9052559" y="1938528"/>
            <a:ext cx="2468879" cy="274320"/>
          </a:xfrm>
          <a:prstGeom prst="rect">
            <a:avLst/>
          </a:prstGeom>
          <a:noFill/>
        </p:spPr>
        <p:txBody>
          <a:bodyPr wrap="square" lIns="0" rIns="0" tIns="0" bIns="0" anchor="t">
            <a:spAutoFit/>
          </a:bodyPr>
          <a:lstStyle/>
          <a:p>
            <a:pPr algn="l"/>
            <a:r>
              <a:rPr sz="1100" b="1" i="0">
                <a:solidFill>
                  <a:srgbClr val="1F3A22"/>
                </a:solidFill>
                <a:latin typeface="Calibri"/>
              </a:rPr>
              <a:t>from 4 May 2027</a:t>
            </a:r>
          </a:p>
        </p:txBody>
      </p:sp>
      <p:sp>
        <p:nvSpPr>
          <p:cNvPr id="16" name="TextBox 15"/>
          <p:cNvSpPr txBox="1"/>
          <p:nvPr/>
        </p:nvSpPr>
        <p:spPr>
          <a:xfrm>
            <a:off x="9052559" y="2212848"/>
            <a:ext cx="2468879" cy="548640"/>
          </a:xfrm>
          <a:prstGeom prst="rect">
            <a:avLst/>
          </a:prstGeom>
          <a:noFill/>
        </p:spPr>
        <p:txBody>
          <a:bodyPr wrap="square" lIns="0" rIns="0" tIns="0" bIns="0" anchor="t">
            <a:spAutoFit/>
          </a:bodyPr>
          <a:lstStyle/>
          <a:p>
            <a:pPr algn="l"/>
            <a:r>
              <a:rPr sz="1050" b="0" i="0">
                <a:solidFill>
                  <a:srgbClr val="6B6A66"/>
                </a:solidFill>
                <a:latin typeface="Calibri"/>
              </a:rPr>
              <a:t>Top-weighted past campaign (1997/98)</a:t>
            </a:r>
          </a:p>
        </p:txBody>
      </p:sp>
      <p:sp>
        <p:nvSpPr>
          <p:cNvPr id="17" name="TextBox 16"/>
          <p:cNvSpPr txBox="1"/>
          <p:nvPr/>
        </p:nvSpPr>
        <p:spPr>
          <a:xfrm>
            <a:off x="548640" y="2788920"/>
            <a:ext cx="11064240" cy="320040"/>
          </a:xfrm>
          <a:prstGeom prst="rect">
            <a:avLst/>
          </a:prstGeom>
          <a:noFill/>
        </p:spPr>
        <p:txBody>
          <a:bodyPr wrap="square" lIns="0" rIns="0" tIns="0" bIns="0" anchor="t">
            <a:spAutoFit/>
          </a:bodyPr>
          <a:lstStyle/>
          <a:p>
            <a:pPr algn="l"/>
            <a:r>
              <a:rPr sz="1100" b="0" i="0">
                <a:solidFill>
                  <a:srgbClr val="1A1A19"/>
                </a:solidFill>
                <a:latin typeface="Calibri"/>
              </a:rPr>
              <a:t>One daily weather file per cell and per member; DSSAT runs the 2026/27 campaign 51 times, exactly as it runs the 42 analogue campaigns.</a:t>
            </a:r>
          </a:p>
        </p:txBody>
      </p:sp>
      <p:sp>
        <p:nvSpPr>
          <p:cNvPr id="18" name="Rounded Rectangle 17"/>
          <p:cNvSpPr/>
          <p:nvPr/>
        </p:nvSpPr>
        <p:spPr>
          <a:xfrm>
            <a:off x="548640" y="3291840"/>
            <a:ext cx="3566160" cy="265176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429000"/>
            <a:ext cx="3200400" cy="411480"/>
          </a:xfrm>
          <a:prstGeom prst="rect">
            <a:avLst/>
          </a:prstGeom>
          <a:noFill/>
        </p:spPr>
        <p:txBody>
          <a:bodyPr wrap="square" lIns="0" rIns="0" tIns="0" bIns="0" anchor="t">
            <a:spAutoFit/>
          </a:bodyPr>
          <a:lstStyle/>
          <a:p>
            <a:pPr algn="l"/>
            <a:r>
              <a:rPr sz="1400" b="1" i="0">
                <a:solidFill>
                  <a:srgbClr val="2C5F2D"/>
                </a:solidFill>
                <a:latin typeface="Calibri"/>
              </a:rPr>
              <a:t>Why NASA POWER for the record</a:t>
            </a:r>
          </a:p>
        </p:txBody>
      </p:sp>
      <p:sp>
        <p:nvSpPr>
          <p:cNvPr id="20" name="TextBox 19"/>
          <p:cNvSpPr txBox="1"/>
          <p:nvPr/>
        </p:nvSpPr>
        <p:spPr>
          <a:xfrm>
            <a:off x="731520" y="3858768"/>
            <a:ext cx="3200400" cy="1965960"/>
          </a:xfrm>
          <a:prstGeom prst="rect">
            <a:avLst/>
          </a:prstGeom>
          <a:noFill/>
        </p:spPr>
        <p:txBody>
          <a:bodyPr wrap="square" lIns="0" rIns="0" tIns="0" bIns="0" anchor="t">
            <a:spAutoFit/>
          </a:bodyPr>
          <a:lstStyle/>
          <a:p>
            <a:pPr algn="l">
              <a:spcAft>
                <a:spcPts val="300"/>
              </a:spcAft>
            </a:pPr>
            <a:r>
              <a:rPr sz="1150" b="0" i="0">
                <a:solidFill>
                  <a:srgbClr val="1A1A19"/>
                </a:solidFill>
                <a:latin typeface="Calibri"/>
              </a:rPr>
              <a:t>Checked against 18 SENAMHI stations: annual rainfall within 6% (ERA5 via Open-Meteo: 25%), and season-to-season rainfall tracked at r 0.79 (ERA5: 0.40). Its precipitation is corrected to the CPC gauge analysis, so over Bolivia it is close to a gauge product. Blind spot: the Chapare, where it is five times too dry.</a:t>
            </a:r>
          </a:p>
        </p:txBody>
      </p:sp>
      <p:sp>
        <p:nvSpPr>
          <p:cNvPr id="21" name="Rounded Rectangle 20"/>
          <p:cNvSpPr/>
          <p:nvPr/>
        </p:nvSpPr>
        <p:spPr>
          <a:xfrm>
            <a:off x="4297680" y="3291840"/>
            <a:ext cx="3566160" cy="265176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3429000"/>
            <a:ext cx="3200400" cy="411480"/>
          </a:xfrm>
          <a:prstGeom prst="rect">
            <a:avLst/>
          </a:prstGeom>
          <a:noFill/>
        </p:spPr>
        <p:txBody>
          <a:bodyPr wrap="square" lIns="0" rIns="0" tIns="0" bIns="0" anchor="t">
            <a:spAutoFit/>
          </a:bodyPr>
          <a:lstStyle/>
          <a:p>
            <a:pPr algn="l"/>
            <a:r>
              <a:rPr sz="1400" b="1" i="0">
                <a:solidFill>
                  <a:srgbClr val="EB6834"/>
                </a:solidFill>
                <a:latin typeface="Calibri"/>
              </a:rPr>
              <a:t>Why the ECMWF members</a:t>
            </a:r>
          </a:p>
        </p:txBody>
      </p:sp>
      <p:sp>
        <p:nvSpPr>
          <p:cNvPr id="23" name="TextBox 22"/>
          <p:cNvSpPr txBox="1"/>
          <p:nvPr/>
        </p:nvSpPr>
        <p:spPr>
          <a:xfrm>
            <a:off x="4480560" y="3858768"/>
            <a:ext cx="3200400" cy="1965960"/>
          </a:xfrm>
          <a:prstGeom prst="rect">
            <a:avLst/>
          </a:prstGeom>
          <a:noFill/>
        </p:spPr>
        <p:txBody>
          <a:bodyPr wrap="square" lIns="0" rIns="0" tIns="0" bIns="0" anchor="t">
            <a:spAutoFit/>
          </a:bodyPr>
          <a:lstStyle/>
          <a:p>
            <a:pPr algn="l">
              <a:spcAft>
                <a:spcPts val="300"/>
              </a:spcAft>
            </a:pPr>
            <a:r>
              <a:rPr sz="1150" b="0" i="0">
                <a:solidFill>
                  <a:srgbClr val="1A1A19"/>
                </a:solidFill>
                <a:latin typeface="Calibri"/>
              </a:rPr>
              <a:t>ECMWF's operational extended-range (EC46, to day 46) and seasonal (SEAS5, to May) ensembles, the same 51 members in one product, refreshed daily and monthly. Each member is shifted and scaled, month by month, onto the cell's POWER climatology; its own run of wet and dry days is kept. Ensemble-mean season rainfall lands within 4% of climatology, as the forecast anomalies imply.</a:t>
            </a:r>
          </a:p>
        </p:txBody>
      </p:sp>
      <p:sp>
        <p:nvSpPr>
          <p:cNvPr id="24" name="Rounded Rectangle 23"/>
          <p:cNvSpPr/>
          <p:nvPr/>
        </p:nvSpPr>
        <p:spPr>
          <a:xfrm>
            <a:off x="8046720" y="3291840"/>
            <a:ext cx="3566160" cy="265176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3429000"/>
            <a:ext cx="3200400" cy="411480"/>
          </a:xfrm>
          <a:prstGeom prst="rect">
            <a:avLst/>
          </a:prstGeom>
          <a:noFill/>
        </p:spPr>
        <p:txBody>
          <a:bodyPr wrap="square" lIns="0" rIns="0" tIns="0" bIns="0" anchor="t">
            <a:spAutoFit/>
          </a:bodyPr>
          <a:lstStyle/>
          <a:p>
            <a:pPr algn="l"/>
            <a:r>
              <a:rPr sz="1400" b="1" i="0">
                <a:solidFill>
                  <a:srgbClr val="B85042"/>
                </a:solidFill>
                <a:latin typeface="Calibri"/>
              </a:rPr>
              <a:t>What cannot be checked</a:t>
            </a:r>
          </a:p>
        </p:txBody>
      </p:sp>
      <p:sp>
        <p:nvSpPr>
          <p:cNvPr id="26" name="TextBox 25"/>
          <p:cNvSpPr txBox="1"/>
          <p:nvPr/>
        </p:nvSpPr>
        <p:spPr>
          <a:xfrm>
            <a:off x="8229600" y="3858768"/>
            <a:ext cx="3200400" cy="1965960"/>
          </a:xfrm>
          <a:prstGeom prst="rect">
            <a:avLst/>
          </a:prstGeom>
          <a:noFill/>
        </p:spPr>
        <p:txBody>
          <a:bodyPr wrap="square" lIns="0" rIns="0" tIns="0" bIns="0" anchor="t">
            <a:spAutoFit/>
          </a:bodyPr>
          <a:lstStyle/>
          <a:p>
            <a:pPr algn="l">
              <a:spcAft>
                <a:spcPts val="300"/>
              </a:spcAft>
            </a:pPr>
            <a:r>
              <a:rPr sz="1150" b="0" i="0">
                <a:solidFill>
                  <a:srgbClr val="1A1A19"/>
                </a:solidFill>
                <a:latin typeface="Calibri"/>
              </a:rPr>
              <a:t>The member product carries no hindcasts, so there is no skill score for Bolivia; the analogue sets stay the primary estimate and the members are a second opinion in the same units. The adjustment choices move the national numbers by a few points; that sensitivity is part of the uncertainty.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5: forecast members side with the strong El Niño analogues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22</a:t>
            </a:r>
          </a:p>
        </p:txBody>
      </p:sp>
      <p:graphicFrame>
        <p:nvGraphicFramePr>
          <p:cNvPr id="5" name="Chart 4"/>
          <p:cNvGraphicFramePr>
            <a:graphicFrameLocks noGrp="1"/>
          </p:cNvGraphicFramePr>
          <p:nvPr/>
        </p:nvGraphicFramePr>
        <p:xfrm>
          <a:off x="548640" y="1554480"/>
          <a:ext cx="6766560" cy="4480560"/>
        </p:xfrm>
        <a:graphic>
          <a:graphicData uri="http://schemas.openxmlformats.org/drawingml/2006/chart">
            <c:chart xmlns:c="http://schemas.openxmlformats.org/drawingml/2006/chart" r:id="rId2"/>
          </a:graphicData>
        </a:graphic>
      </p:graphicFrame>
      <p:sp>
        <p:nvSpPr>
          <p:cNvPr id="6" name="TextBox 5"/>
          <p:cNvSpPr txBox="1"/>
          <p:nvPr/>
        </p:nvSpPr>
        <p:spPr>
          <a:xfrm>
            <a:off x="548640" y="1234440"/>
            <a:ext cx="6766560" cy="274320"/>
          </a:xfrm>
          <a:prstGeom prst="rect">
            <a:avLst/>
          </a:prstGeom>
          <a:noFill/>
        </p:spPr>
        <p:txBody>
          <a:bodyPr wrap="square" lIns="0" rIns="0" tIns="0" bIns="0" anchor="t">
            <a:spAutoFit/>
          </a:bodyPr>
          <a:lstStyle/>
          <a:p>
            <a:pPr algn="l"/>
            <a:r>
              <a:rPr sz="1100" b="0" i="0">
                <a:solidFill>
                  <a:srgbClr val="6B6A66"/>
                </a:solidFill>
                <a:latin typeface="Calibri"/>
              </a:rPr>
              <a:t>Simulated 2026/27 national yield, % of the mean over all 42 analogue seasons (same management, same cells)</a:t>
            </a:r>
          </a:p>
        </p:txBody>
      </p:sp>
      <p:sp>
        <p:nvSpPr>
          <p:cNvPr id="7" name="Rounded Rectangle 6"/>
          <p:cNvSpPr/>
          <p:nvPr/>
        </p:nvSpPr>
        <p:spPr>
          <a:xfrm>
            <a:off x="7680960" y="1325880"/>
            <a:ext cx="3931920" cy="489204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463040"/>
            <a:ext cx="3566160" cy="365760"/>
          </a:xfrm>
          <a:prstGeom prst="rect">
            <a:avLst/>
          </a:prstGeom>
          <a:noFill/>
        </p:spPr>
        <p:txBody>
          <a:bodyPr wrap="square" lIns="0" rIns="0" tIns="0" bIns="0" anchor="t">
            <a:spAutoFit/>
          </a:bodyPr>
          <a:lstStyle/>
          <a:p>
            <a:pPr algn="l"/>
            <a:r>
              <a:rPr sz="1200" b="1" i="0">
                <a:solidFill>
                  <a:srgbClr val="EB6834"/>
                </a:solidFill>
                <a:latin typeface="Calibri"/>
              </a:rPr>
              <a:t>Chance of a ≥10% national loss, ECMWF members</a:t>
            </a:r>
          </a:p>
        </p:txBody>
      </p:sp>
      <p:sp>
        <p:nvSpPr>
          <p:cNvPr id="9" name="TextBox 8"/>
          <p:cNvSpPr txBox="1"/>
          <p:nvPr/>
        </p:nvSpPr>
        <p:spPr>
          <a:xfrm>
            <a:off x="7909560" y="1874519"/>
            <a:ext cx="1737360" cy="822960"/>
          </a:xfrm>
          <a:prstGeom prst="rect">
            <a:avLst/>
          </a:prstGeom>
          <a:noFill/>
        </p:spPr>
        <p:txBody>
          <a:bodyPr wrap="square" lIns="0" rIns="0" tIns="0" bIns="0" anchor="b">
            <a:spAutoFit/>
          </a:bodyPr>
          <a:lstStyle/>
          <a:p>
            <a:pPr algn="l"/>
            <a:r>
              <a:rPr sz="4000" b="1" i="0">
                <a:solidFill>
                  <a:srgbClr val="EB6834"/>
                </a:solidFill>
                <a:latin typeface="Cambria"/>
              </a:rPr>
              <a:t>59%</a:t>
            </a:r>
          </a:p>
        </p:txBody>
      </p:sp>
      <p:sp>
        <p:nvSpPr>
          <p:cNvPr id="10" name="TextBox 9"/>
          <p:cNvSpPr txBox="1"/>
          <p:nvPr/>
        </p:nvSpPr>
        <p:spPr>
          <a:xfrm>
            <a:off x="7909560" y="2715768"/>
            <a:ext cx="1737360" cy="548640"/>
          </a:xfrm>
          <a:prstGeom prst="rect">
            <a:avLst/>
          </a:prstGeom>
          <a:noFill/>
        </p:spPr>
        <p:txBody>
          <a:bodyPr wrap="square" lIns="0" rIns="0" tIns="0" bIns="0" anchor="t">
            <a:spAutoFit/>
          </a:bodyPr>
          <a:lstStyle/>
          <a:p>
            <a:pPr algn="l"/>
            <a:r>
              <a:rPr sz="1200" b="0" i="0">
                <a:solidFill>
                  <a:srgbClr val="6B6A66"/>
                </a:solidFill>
                <a:latin typeface="Calibri"/>
              </a:rPr>
              <a:t>Soya</a:t>
            </a:r>
          </a:p>
        </p:txBody>
      </p:sp>
      <p:sp>
        <p:nvSpPr>
          <p:cNvPr id="11" name="TextBox 10"/>
          <p:cNvSpPr txBox="1"/>
          <p:nvPr/>
        </p:nvSpPr>
        <p:spPr>
          <a:xfrm>
            <a:off x="9738360" y="1874519"/>
            <a:ext cx="1737360" cy="822960"/>
          </a:xfrm>
          <a:prstGeom prst="rect">
            <a:avLst/>
          </a:prstGeom>
          <a:noFill/>
        </p:spPr>
        <p:txBody>
          <a:bodyPr wrap="square" lIns="0" rIns="0" tIns="0" bIns="0" anchor="b">
            <a:spAutoFit/>
          </a:bodyPr>
          <a:lstStyle/>
          <a:p>
            <a:pPr algn="l"/>
            <a:r>
              <a:rPr sz="4000" b="1" i="0">
                <a:solidFill>
                  <a:srgbClr val="EB6834"/>
                </a:solidFill>
                <a:latin typeface="Cambria"/>
              </a:rPr>
              <a:t>75%</a:t>
            </a:r>
          </a:p>
        </p:txBody>
      </p:sp>
      <p:sp>
        <p:nvSpPr>
          <p:cNvPr id="12" name="TextBox 11"/>
          <p:cNvSpPr txBox="1"/>
          <p:nvPr/>
        </p:nvSpPr>
        <p:spPr>
          <a:xfrm>
            <a:off x="9738360" y="2715768"/>
            <a:ext cx="1737360" cy="548640"/>
          </a:xfrm>
          <a:prstGeom prst="rect">
            <a:avLst/>
          </a:prstGeom>
          <a:noFill/>
        </p:spPr>
        <p:txBody>
          <a:bodyPr wrap="square" lIns="0" rIns="0" tIns="0" bIns="0" anchor="t">
            <a:spAutoFit/>
          </a:bodyPr>
          <a:lstStyle/>
          <a:p>
            <a:pPr algn="l"/>
            <a:r>
              <a:rPr sz="1200" b="0" i="0">
                <a:solidFill>
                  <a:srgbClr val="6B6A66"/>
                </a:solidFill>
                <a:latin typeface="Calibri"/>
              </a:rPr>
              <a:t>Maíz</a:t>
            </a:r>
          </a:p>
        </p:txBody>
      </p:sp>
      <p:sp>
        <p:nvSpPr>
          <p:cNvPr id="13" name="TextBox 12"/>
          <p:cNvSpPr txBox="1"/>
          <p:nvPr/>
        </p:nvSpPr>
        <p:spPr>
          <a:xfrm>
            <a:off x="7909560" y="3246120"/>
            <a:ext cx="1737360" cy="822960"/>
          </a:xfrm>
          <a:prstGeom prst="rect">
            <a:avLst/>
          </a:prstGeom>
          <a:noFill/>
        </p:spPr>
        <p:txBody>
          <a:bodyPr wrap="square" lIns="0" rIns="0" tIns="0" bIns="0" anchor="b">
            <a:spAutoFit/>
          </a:bodyPr>
          <a:lstStyle/>
          <a:p>
            <a:pPr algn="l"/>
            <a:r>
              <a:rPr sz="4000" b="1" i="0">
                <a:solidFill>
                  <a:srgbClr val="EB6834"/>
                </a:solidFill>
                <a:latin typeface="Cambria"/>
              </a:rPr>
              <a:t>57%</a:t>
            </a:r>
          </a:p>
        </p:txBody>
      </p:sp>
      <p:sp>
        <p:nvSpPr>
          <p:cNvPr id="14" name="TextBox 13"/>
          <p:cNvSpPr txBox="1"/>
          <p:nvPr/>
        </p:nvSpPr>
        <p:spPr>
          <a:xfrm>
            <a:off x="7909560" y="4087368"/>
            <a:ext cx="1737360" cy="548640"/>
          </a:xfrm>
          <a:prstGeom prst="rect">
            <a:avLst/>
          </a:prstGeom>
          <a:noFill/>
        </p:spPr>
        <p:txBody>
          <a:bodyPr wrap="square" lIns="0" rIns="0" tIns="0" bIns="0" anchor="t">
            <a:spAutoFit/>
          </a:bodyPr>
          <a:lstStyle/>
          <a:p>
            <a:pPr algn="l"/>
            <a:r>
              <a:rPr sz="1200" b="0" i="0">
                <a:solidFill>
                  <a:srgbClr val="6B6A66"/>
                </a:solidFill>
                <a:latin typeface="Calibri"/>
              </a:rPr>
              <a:t>Arroz</a:t>
            </a:r>
          </a:p>
        </p:txBody>
      </p:sp>
      <p:sp>
        <p:nvSpPr>
          <p:cNvPr id="15" name="TextBox 14"/>
          <p:cNvSpPr txBox="1"/>
          <p:nvPr/>
        </p:nvSpPr>
        <p:spPr>
          <a:xfrm>
            <a:off x="7909560" y="4617720"/>
            <a:ext cx="3566160" cy="365760"/>
          </a:xfrm>
          <a:prstGeom prst="rect">
            <a:avLst/>
          </a:prstGeom>
          <a:noFill/>
        </p:spPr>
        <p:txBody>
          <a:bodyPr wrap="square" lIns="0" rIns="0" tIns="0" bIns="0" anchor="t">
            <a:spAutoFit/>
          </a:bodyPr>
          <a:lstStyle/>
          <a:p>
            <a:pPr algn="l"/>
            <a:r>
              <a:rPr sz="1200" b="1" i="0">
                <a:solidFill>
                  <a:srgbClr val="EB6834"/>
                </a:solidFill>
                <a:latin typeface="Calibri"/>
              </a:rPr>
              <a:t>Where the members put the signal</a:t>
            </a:r>
          </a:p>
        </p:txBody>
      </p:sp>
      <p:sp>
        <p:nvSpPr>
          <p:cNvPr id="16" name="TextBox 15"/>
          <p:cNvSpPr txBox="1"/>
          <p:nvPr/>
        </p:nvSpPr>
        <p:spPr>
          <a:xfrm>
            <a:off x="7909560" y="4983480"/>
            <a:ext cx="3566160" cy="1188720"/>
          </a:xfrm>
          <a:prstGeom prst="rect">
            <a:avLst/>
          </a:prstGeom>
          <a:noFill/>
        </p:spPr>
        <p:txBody>
          <a:bodyPr wrap="square" lIns="0" rIns="0" tIns="0" bIns="0" anchor="t">
            <a:spAutoFit/>
          </a:bodyPr>
          <a:lstStyle/>
          <a:p>
            <a:pPr algn="l"/>
            <a:r>
              <a:rPr sz="1100" b="0" i="0">
                <a:solidFill>
                  <a:srgbClr val="1A1A19"/>
                </a:solidFill>
                <a:latin typeface="Calibri"/>
              </a:rPr>
              <a:t>Lowland season warmth of about +1.5 °C over the analogue mean, inside the 1997/98, 2015/16 and 2023/24 range; Altiplano rainfall about a quarter below normal (trigo −23%). 10th–90th percentile of the members: soya −43 to +3%, maíz −27 to −5%, arroz −25 to −1%.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5: 51 forecast members beside 42 analogue campaigns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23</a:t>
            </a:r>
          </a:p>
        </p:txBody>
      </p:sp>
      <p:pic>
        <p:nvPicPr>
          <p:cNvPr id="5" name="Picture 4" descr="chart_2026_27_members_vs_analogues.png"/>
          <p:cNvPicPr>
            <a:picLocks noChangeAspect="1"/>
          </p:cNvPicPr>
          <p:nvPr/>
        </p:nvPicPr>
        <p:blipFill>
          <a:blip r:embed="rId2"/>
          <a:stretch>
            <a:fillRect/>
          </a:stretch>
        </p:blipFill>
        <p:spPr>
          <a:xfrm>
            <a:off x="457200" y="1280160"/>
            <a:ext cx="11247120" cy="3367533"/>
          </a:xfrm>
          <a:prstGeom prst="rect">
            <a:avLst/>
          </a:prstGeom>
        </p:spPr>
      </p:pic>
      <p:sp>
        <p:nvSpPr>
          <p:cNvPr id="6" name="TextBox 5"/>
          <p:cNvSpPr txBox="1"/>
          <p:nvPr/>
        </p:nvSpPr>
        <p:spPr>
          <a:xfrm>
            <a:off x="548640" y="4892040"/>
            <a:ext cx="11064240" cy="1280160"/>
          </a:xfrm>
          <a:prstGeom prst="rect">
            <a:avLst/>
          </a:prstGeom>
          <a:noFill/>
        </p:spPr>
        <p:txBody>
          <a:bodyPr wrap="square" lIns="0" rIns="0" tIns="0" bIns="0" anchor="t">
            <a:spAutoFit/>
          </a:bodyPr>
          <a:lstStyle/>
          <a:p>
            <a:pPr algn="l"/>
            <a:r>
              <a:rPr sz="1200" b="0" i="0">
                <a:solidFill>
                  <a:srgbClr val="1A1A19"/>
                </a:solidFill>
                <a:latin typeface="Calibri"/>
              </a:rPr>
              <a:t>Left of each panel: the 2026/27 campaign under each past campaign's weather (orange El Niño, blue La Niña, grey neutral). Right: under each bias-adjusted ECMWF member. The members sit below the all-analogue mean for soya, maíz and arroz with a spread as wide as the analogue set, and overlap the strong eastern-Pacific campaigns at their lower end; for sorgo and trigo the forecast window barely touches the season. The two columns are different objects: the analogues span what past seasons did, the members span what the model thinks this season will do.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5: where the members take the season's rainfall</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24</a:t>
            </a:r>
          </a:p>
        </p:txBody>
      </p:sp>
      <p:pic>
        <p:nvPicPr>
          <p:cNvPr id="5" name="Picture 4" descr="chart_season_progress_forecast.png"/>
          <p:cNvPicPr>
            <a:picLocks noChangeAspect="1"/>
          </p:cNvPicPr>
          <p:nvPr/>
        </p:nvPicPr>
        <p:blipFill>
          <a:blip r:embed="rId2"/>
          <a:stretch>
            <a:fillRect/>
          </a:stretch>
        </p:blipFill>
        <p:spPr>
          <a:xfrm>
            <a:off x="457200" y="1188720"/>
            <a:ext cx="11247120" cy="3814856"/>
          </a:xfrm>
          <a:prstGeom prst="rect">
            <a:avLst/>
          </a:prstGeom>
        </p:spPr>
      </p:pic>
      <p:sp>
        <p:nvSpPr>
          <p:cNvPr id="6" name="TextBox 5"/>
          <p:cNvSpPr txBox="1"/>
          <p:nvPr/>
        </p:nvSpPr>
        <p:spPr>
          <a:xfrm>
            <a:off x="548640" y="4983480"/>
            <a:ext cx="11064240" cy="1371600"/>
          </a:xfrm>
          <a:prstGeom prst="rect">
            <a:avLst/>
          </a:prstGeom>
          <a:noFill/>
        </p:spPr>
        <p:txBody>
          <a:bodyPr wrap="square" lIns="0" rIns="0" tIns="0" bIns="0" anchor="t">
            <a:spAutoFit/>
          </a:bodyPr>
          <a:lstStyle/>
          <a:p>
            <a:pPr algn="l">
              <a:spcAft>
                <a:spcPts val="300"/>
              </a:spcAft>
            </a:pPr>
            <a:r>
              <a:rPr sz="1100" b="1" i="0">
                <a:solidFill>
                  <a:srgbClr val="2C5F2D"/>
                </a:solidFill>
                <a:latin typeface="Calibri"/>
              </a:rPr>
              <a:t>•  </a:t>
            </a:r>
            <a:r>
              <a:rPr sz="1100" b="1" i="0">
                <a:solidFill>
                  <a:srgbClr val="1A1A19"/>
                </a:solidFill>
                <a:latin typeface="Calibri"/>
              </a:rPr>
              <a:t>Season total to 30 April, member median: </a:t>
            </a:r>
            <a:r>
              <a:rPr sz="1100" b="0" i="0">
                <a:solidFill>
                  <a:srgbClr val="1A1A19"/>
                </a:solidFill>
                <a:latin typeface="Calibri"/>
              </a:rPr>
              <a:t>Altiplano 434 mm (87% of the all-campaign median; 80% of members between 402 and 491), valleys 777 mm (108%), lowlands 1041 mm (100%)</a:t>
            </a:r>
          </a:p>
          <a:p>
            <a:pPr algn="l">
              <a:spcAft>
                <a:spcPts val="300"/>
              </a:spcAft>
            </a:pPr>
            <a:r>
              <a:rPr sz="1100" b="1" i="0">
                <a:solidFill>
                  <a:srgbClr val="2C5F2D"/>
                </a:solidFill>
                <a:latin typeface="Calibri"/>
              </a:rPr>
              <a:t>•  </a:t>
            </a:r>
            <a:r>
              <a:rPr sz="1100" b="1" i="0">
                <a:solidFill>
                  <a:srgbClr val="1A1A19"/>
                </a:solidFill>
                <a:latin typeface="Calibri"/>
              </a:rPr>
              <a:t>Same picture as the analogues: </a:t>
            </a:r>
            <a:r>
              <a:rPr sz="1100" b="0" i="0">
                <a:solidFill>
                  <a:srgbClr val="1A1A19"/>
                </a:solidFill>
                <a:latin typeface="Calibri"/>
              </a:rPr>
              <a:t>the Altiplano deficit builds from December; valleys and lowlands end near normal once the wet start is counted, and the lowland risk runs through heat and the timing of dry spells, which a seasonal total does not show</a:t>
            </a:r>
          </a:p>
          <a:p>
            <a:pPr algn="l">
              <a:spcAft>
                <a:spcPts val="300"/>
              </a:spcAft>
            </a:pPr>
            <a:r>
              <a:rPr sz="1100" b="1" i="0">
                <a:solidFill>
                  <a:srgbClr val="2C5F2D"/>
                </a:solidFill>
                <a:latin typeface="Calibri"/>
              </a:rPr>
              <a:t>•  </a:t>
            </a:r>
            <a:r>
              <a:rPr sz="1100" b="1" i="0">
                <a:solidFill>
                  <a:srgbClr val="1A1A19"/>
                </a:solidFill>
                <a:latin typeface="Calibri"/>
              </a:rPr>
              <a:t>The band is the forecast spread, not a confidence interval of the outcome: </a:t>
            </a:r>
            <a:r>
              <a:rPr sz="1100" b="0" i="0">
                <a:solidFill>
                  <a:srgbClr val="1A1A19"/>
                </a:solidFill>
                <a:latin typeface="Calibri"/>
              </a:rPr>
              <a:t>members are bias-adjusted to the POWER climatology of each cell and cannot be verified against past seasons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What these results cannot say</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25</a:t>
            </a:r>
          </a:p>
        </p:txBody>
      </p:sp>
      <p:sp>
        <p:nvSpPr>
          <p:cNvPr id="5" name="Rounded Rectangle 4"/>
          <p:cNvSpPr/>
          <p:nvPr/>
        </p:nvSpPr>
        <p:spPr>
          <a:xfrm>
            <a:off x="548640" y="146304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00200"/>
            <a:ext cx="3200400" cy="411480"/>
          </a:xfrm>
          <a:prstGeom prst="rect">
            <a:avLst/>
          </a:prstGeom>
          <a:noFill/>
        </p:spPr>
        <p:txBody>
          <a:bodyPr wrap="square" lIns="0" rIns="0" tIns="0" bIns="0" anchor="t">
            <a:spAutoFit/>
          </a:bodyPr>
          <a:lstStyle/>
          <a:p>
            <a:pPr algn="l"/>
            <a:r>
              <a:rPr sz="1400" b="1" i="0">
                <a:solidFill>
                  <a:srgbClr val="B85042"/>
                </a:solidFill>
                <a:latin typeface="Calibri"/>
              </a:rPr>
              <a:t>No area response</a:t>
            </a:r>
          </a:p>
        </p:txBody>
      </p:sp>
      <p:sp>
        <p:nvSpPr>
          <p:cNvPr id="7" name="TextBox 6"/>
          <p:cNvSpPr txBox="1"/>
          <p:nvPr/>
        </p:nvSpPr>
        <p:spPr>
          <a:xfrm>
            <a:off x="731520" y="202996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DSSAT simulates yield on planted area. Farmers plant less or switch crop after a failed onset; that channel is often larger than the yield channel and is outside this framework.</a:t>
            </a:r>
          </a:p>
        </p:txBody>
      </p:sp>
      <p:sp>
        <p:nvSpPr>
          <p:cNvPr id="8" name="Rounded Rectangle 7"/>
          <p:cNvSpPr/>
          <p:nvPr/>
        </p:nvSpPr>
        <p:spPr>
          <a:xfrm>
            <a:off x="4297679" y="146304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1600200"/>
            <a:ext cx="3200400" cy="411480"/>
          </a:xfrm>
          <a:prstGeom prst="rect">
            <a:avLst/>
          </a:prstGeom>
          <a:noFill/>
        </p:spPr>
        <p:txBody>
          <a:bodyPr wrap="square" lIns="0" rIns="0" tIns="0" bIns="0" anchor="t">
            <a:spAutoFit/>
          </a:bodyPr>
          <a:lstStyle/>
          <a:p>
            <a:pPr algn="l"/>
            <a:r>
              <a:rPr sz="1400" b="1" i="0">
                <a:solidFill>
                  <a:srgbClr val="B85042"/>
                </a:solidFill>
                <a:latin typeface="Calibri"/>
              </a:rPr>
              <a:t>No floods, hail, frost damage, pests</a:t>
            </a:r>
          </a:p>
        </p:txBody>
      </p:sp>
      <p:sp>
        <p:nvSpPr>
          <p:cNvPr id="10" name="TextBox 9"/>
          <p:cNvSpPr txBox="1"/>
          <p:nvPr/>
        </p:nvSpPr>
        <p:spPr>
          <a:xfrm>
            <a:off x="4480559" y="202996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Excess-rain losses in the lowlands and hail/frost in the highlands are systematically under-estimated; wheat and soya show it.</a:t>
            </a:r>
          </a:p>
        </p:txBody>
      </p:sp>
      <p:sp>
        <p:nvSpPr>
          <p:cNvPr id="11" name="Rounded Rectangle 10"/>
          <p:cNvSpPr/>
          <p:nvPr/>
        </p:nvSpPr>
        <p:spPr>
          <a:xfrm>
            <a:off x="8046719" y="146304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9" y="1600200"/>
            <a:ext cx="3200400" cy="411480"/>
          </a:xfrm>
          <a:prstGeom prst="rect">
            <a:avLst/>
          </a:prstGeom>
          <a:noFill/>
        </p:spPr>
        <p:txBody>
          <a:bodyPr wrap="square" lIns="0" rIns="0" tIns="0" bIns="0" anchor="t">
            <a:spAutoFit/>
          </a:bodyPr>
          <a:lstStyle/>
          <a:p>
            <a:pPr algn="l"/>
            <a:r>
              <a:rPr sz="1400" b="1" i="0">
                <a:solidFill>
                  <a:srgbClr val="B85042"/>
                </a:solidFill>
                <a:latin typeface="Calibri"/>
              </a:rPr>
              <a:t>Reanalysis weather in the Andes</a:t>
            </a:r>
          </a:p>
        </p:txBody>
      </p:sp>
      <p:sp>
        <p:nvSpPr>
          <p:cNvPr id="13" name="TextBox 12"/>
          <p:cNvSpPr txBox="1"/>
          <p:nvPr/>
        </p:nvSpPr>
        <p:spPr>
          <a:xfrm>
            <a:off x="8229599" y="202996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MERRA-2 at 0.5° in complex terrain; Altiplano maize fails in 42% of simulated seasons, partly real, partly resolution.</a:t>
            </a:r>
          </a:p>
        </p:txBody>
      </p:sp>
      <p:sp>
        <p:nvSpPr>
          <p:cNvPr id="14" name="Rounded Rectangle 13"/>
          <p:cNvSpPr/>
          <p:nvPr/>
        </p:nvSpPr>
        <p:spPr>
          <a:xfrm>
            <a:off x="548640" y="370332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840480"/>
            <a:ext cx="3200400" cy="411480"/>
          </a:xfrm>
          <a:prstGeom prst="rect">
            <a:avLst/>
          </a:prstGeom>
          <a:noFill/>
        </p:spPr>
        <p:txBody>
          <a:bodyPr wrap="square" lIns="0" rIns="0" tIns="0" bIns="0" anchor="t">
            <a:spAutoFit/>
          </a:bodyPr>
          <a:lstStyle/>
          <a:p>
            <a:pPr algn="l"/>
            <a:r>
              <a:rPr sz="1400" b="1" i="0">
                <a:solidFill>
                  <a:srgbClr val="B85042"/>
                </a:solidFill>
                <a:latin typeface="Calibri"/>
              </a:rPr>
              <a:t>Levels are calibrated, anomalies are not</a:t>
            </a:r>
          </a:p>
        </p:txBody>
      </p:sp>
      <p:sp>
        <p:nvSpPr>
          <p:cNvPr id="16" name="TextBox 15"/>
          <p:cNvSpPr txBox="1"/>
          <p:nvPr/>
        </p:nvSpPr>
        <p:spPr>
          <a:xfrm>
            <a:off x="731520" y="427024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Relative anomalies (% of normal) are the defensible output; absolute tonnes are not.</a:t>
            </a:r>
          </a:p>
        </p:txBody>
      </p:sp>
      <p:sp>
        <p:nvSpPr>
          <p:cNvPr id="17" name="Rounded Rectangle 16"/>
          <p:cNvSpPr/>
          <p:nvPr/>
        </p:nvSpPr>
        <p:spPr>
          <a:xfrm>
            <a:off x="4297679" y="370332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3840480"/>
            <a:ext cx="3200400" cy="411480"/>
          </a:xfrm>
          <a:prstGeom prst="rect">
            <a:avLst/>
          </a:prstGeom>
          <a:noFill/>
        </p:spPr>
        <p:txBody>
          <a:bodyPr wrap="square" lIns="0" rIns="0" tIns="0" bIns="0" anchor="t">
            <a:spAutoFit/>
          </a:bodyPr>
          <a:lstStyle/>
          <a:p>
            <a:pPr algn="l"/>
            <a:r>
              <a:rPr sz="1400" b="1" i="0">
                <a:solidFill>
                  <a:srgbClr val="B85042"/>
                </a:solidFill>
                <a:latin typeface="Calibri"/>
              </a:rPr>
              <a:t>No potato or quinoa</a:t>
            </a:r>
          </a:p>
        </p:txBody>
      </p:sp>
      <p:sp>
        <p:nvSpPr>
          <p:cNvPr id="19" name="TextBox 18"/>
          <p:cNvSpPr txBox="1"/>
          <p:nvPr/>
        </p:nvSpPr>
        <p:spPr>
          <a:xfrm>
            <a:off x="4480559" y="427024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The Altiplano, where the El Niño drought story is usually told, is represented by valley maíz and highland trigo only.</a:t>
            </a:r>
          </a:p>
        </p:txBody>
      </p:sp>
      <p:sp>
        <p:nvSpPr>
          <p:cNvPr id="20" name="Rounded Rectangle 19"/>
          <p:cNvSpPr/>
          <p:nvPr/>
        </p:nvSpPr>
        <p:spPr>
          <a:xfrm>
            <a:off x="8046719" y="370332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9" y="3840480"/>
            <a:ext cx="3200400" cy="411480"/>
          </a:xfrm>
          <a:prstGeom prst="rect">
            <a:avLst/>
          </a:prstGeom>
          <a:noFill/>
        </p:spPr>
        <p:txBody>
          <a:bodyPr wrap="square" lIns="0" rIns="0" tIns="0" bIns="0" anchor="t">
            <a:spAutoFit/>
          </a:bodyPr>
          <a:lstStyle/>
          <a:p>
            <a:pPr algn="l"/>
            <a:r>
              <a:rPr sz="1400" b="1" i="0">
                <a:solidFill>
                  <a:srgbClr val="B85042"/>
                </a:solidFill>
                <a:latin typeface="Calibri"/>
              </a:rPr>
              <a:t>Twelve years of validation</a:t>
            </a:r>
          </a:p>
        </p:txBody>
      </p:sp>
      <p:sp>
        <p:nvSpPr>
          <p:cNvPr id="22" name="TextBox 21"/>
          <p:cNvSpPr txBox="1"/>
          <p:nvPr/>
        </p:nvSpPr>
        <p:spPr>
          <a:xfrm>
            <a:off x="8229599" y="427024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INE departmental data run 2012–2024; every skill number here has a wide interval.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Next: the monthly update loop and the open model questions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14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26</a:t>
            </a:r>
          </a:p>
        </p:txBody>
      </p:sp>
      <p:sp>
        <p:nvSpPr>
          <p:cNvPr id="5" name="Rounded Rectangle 4"/>
          <p:cNvSpPr/>
          <p:nvPr/>
        </p:nvSpPr>
        <p:spPr>
          <a:xfrm>
            <a:off x="548640" y="1325880"/>
            <a:ext cx="3566160" cy="489204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3200400" cy="548640"/>
          </a:xfrm>
          <a:prstGeom prst="rect">
            <a:avLst/>
          </a:prstGeom>
          <a:noFill/>
        </p:spPr>
        <p:txBody>
          <a:bodyPr wrap="square" lIns="0" rIns="0" tIns="0" bIns="0" anchor="t">
            <a:spAutoFit/>
          </a:bodyPr>
          <a:lstStyle/>
          <a:p>
            <a:pPr algn="l"/>
            <a:r>
              <a:rPr sz="1400" b="1" i="0">
                <a:solidFill>
                  <a:srgbClr val="2C5F2D"/>
                </a:solidFill>
                <a:latin typeface="Calibri"/>
              </a:rPr>
              <a:t>Monthly update loop (from the 8th of each month)</a:t>
            </a:r>
          </a:p>
        </p:txBody>
      </p:sp>
      <p:sp>
        <p:nvSpPr>
          <p:cNvPr id="7" name="TextBox 6"/>
          <p:cNvSpPr txBox="1"/>
          <p:nvPr/>
        </p:nvSpPr>
        <p:spPr>
          <a:xfrm>
            <a:off x="731520" y="2057400"/>
            <a:ext cx="3200400" cy="4023360"/>
          </a:xfrm>
          <a:prstGeom prst="rect">
            <a:avLst/>
          </a:prstGeom>
          <a:noFill/>
        </p:spPr>
        <p:txBody>
          <a:bodyPr wrap="square" lIns="0" rIns="0" tIns="0" bIns="0" anchor="t">
            <a:spAutoFit/>
          </a:bodyPr>
          <a:lstStyle/>
          <a:p>
            <a:pPr algn="l">
              <a:spcAft>
                <a:spcPts val="700"/>
              </a:spcAft>
            </a:pPr>
            <a:r>
              <a:rPr sz="1250" b="1" i="0">
                <a:solidFill>
                  <a:srgbClr val="2C5F2D"/>
                </a:solidFill>
                <a:latin typeface="Calibri"/>
              </a:rPr>
              <a:t>•  </a:t>
            </a:r>
            <a:r>
              <a:rPr sz="1250" b="0" i="0">
                <a:solidFill>
                  <a:srgbClr val="1A1A19"/>
                </a:solidFill>
                <a:latin typeface="Calibri"/>
              </a:rPr>
              <a:t>Pull the new SEAS5 release and the 51 ECMWF members (minutes with the Open-Meteo subscription); refresh the analogue weights</a:t>
            </a:r>
          </a:p>
          <a:p>
            <a:pPr algn="l">
              <a:spcAft>
                <a:spcPts val="700"/>
              </a:spcAft>
            </a:pPr>
            <a:r>
              <a:rPr sz="1250" b="1" i="0">
                <a:solidFill>
                  <a:srgbClr val="2C5F2D"/>
                </a:solidFill>
                <a:latin typeface="Calibri"/>
              </a:rPr>
              <a:t>•  </a:t>
            </a:r>
            <a:r>
              <a:rPr sz="1250" b="0" i="0">
                <a:solidFill>
                  <a:srgbClr val="1A1A19"/>
                </a:solidFill>
                <a:latin typeface="Calibri"/>
              </a:rPr>
              <a:t>Move the splice date forward with the latest observed weather; rerun the 42 analogues and the 51 members (~1.5 h); the spread narrows as the season advances</a:t>
            </a:r>
          </a:p>
          <a:p>
            <a:pPr algn="l">
              <a:spcAft>
                <a:spcPts val="700"/>
              </a:spcAft>
            </a:pPr>
            <a:r>
              <a:rPr sz="1250" b="1" i="0">
                <a:solidFill>
                  <a:srgbClr val="2C5F2D"/>
                </a:solidFill>
                <a:latin typeface="Calibri"/>
              </a:rPr>
              <a:t>•  </a:t>
            </a:r>
            <a:r>
              <a:rPr sz="1250" b="0" i="0">
                <a:solidFill>
                  <a:srgbClr val="1A1A19"/>
                </a:solidFill>
                <a:latin typeface="Calibri"/>
              </a:rPr>
              <a:t>Check the invierno 2026 nowcast against INE when published; 2015/16 and 2023/24 as the reference events</a:t>
            </a:r>
          </a:p>
        </p:txBody>
      </p:sp>
      <p:sp>
        <p:nvSpPr>
          <p:cNvPr id="8" name="Rounded Rectangle 7"/>
          <p:cNvSpPr/>
          <p:nvPr/>
        </p:nvSpPr>
        <p:spPr>
          <a:xfrm>
            <a:off x="4297679" y="1325880"/>
            <a:ext cx="3566160" cy="489204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1463040"/>
            <a:ext cx="3200400" cy="548640"/>
          </a:xfrm>
          <a:prstGeom prst="rect">
            <a:avLst/>
          </a:prstGeom>
          <a:noFill/>
        </p:spPr>
        <p:txBody>
          <a:bodyPr wrap="square" lIns="0" rIns="0" tIns="0" bIns="0" anchor="t">
            <a:spAutoFit/>
          </a:bodyPr>
          <a:lstStyle/>
          <a:p>
            <a:pPr algn="l"/>
            <a:r>
              <a:rPr sz="1400" b="1" i="0">
                <a:solidFill>
                  <a:srgbClr val="2C5F2D"/>
                </a:solidFill>
                <a:latin typeface="Calibri"/>
              </a:rPr>
              <a:t>Model work still open</a:t>
            </a:r>
          </a:p>
        </p:txBody>
      </p:sp>
      <p:sp>
        <p:nvSpPr>
          <p:cNvPr id="10" name="TextBox 9"/>
          <p:cNvSpPr txBox="1"/>
          <p:nvPr/>
        </p:nvSpPr>
        <p:spPr>
          <a:xfrm>
            <a:off x="4480559" y="2057400"/>
            <a:ext cx="3200400" cy="4023360"/>
          </a:xfrm>
          <a:prstGeom prst="rect">
            <a:avLst/>
          </a:prstGeom>
          <a:noFill/>
        </p:spPr>
        <p:txBody>
          <a:bodyPr wrap="square" lIns="0" rIns="0" tIns="0" bIns="0" anchor="t">
            <a:spAutoFit/>
          </a:bodyPr>
          <a:lstStyle/>
          <a:p>
            <a:pPr algn="l">
              <a:spcAft>
                <a:spcPts val="700"/>
              </a:spcAft>
            </a:pPr>
            <a:r>
              <a:rPr sz="1250" b="1" i="0">
                <a:solidFill>
                  <a:srgbClr val="2C5F2D"/>
                </a:solidFill>
                <a:latin typeface="Calibri"/>
              </a:rPr>
              <a:t>•  </a:t>
            </a:r>
            <a:r>
              <a:rPr sz="1250" b="0" i="0">
                <a:solidFill>
                  <a:srgbClr val="1A1A19"/>
                </a:solidFill>
                <a:latin typeface="Calibri"/>
              </a:rPr>
              <a:t>Statistical excess-rain term for soya, fitted on the INE overlap and reported separately</a:t>
            </a:r>
          </a:p>
          <a:p>
            <a:pPr algn="l">
              <a:spcAft>
                <a:spcPts val="700"/>
              </a:spcAft>
            </a:pPr>
            <a:r>
              <a:rPr sz="1250" b="1" i="0">
                <a:solidFill>
                  <a:srgbClr val="2C5F2D"/>
                </a:solidFill>
                <a:latin typeface="Calibri"/>
              </a:rPr>
              <a:t>•  </a:t>
            </a:r>
            <a:r>
              <a:rPr sz="1250" b="0" i="0">
                <a:solidFill>
                  <a:srgbClr val="1A1A19"/>
                </a:solidFill>
                <a:latin typeface="Calibri"/>
              </a:rPr>
              <a:t>Potato (SUBSTOR) for the Altiplano — the forecast is driest where this tool says least</a:t>
            </a:r>
          </a:p>
          <a:p>
            <a:pPr algn="l">
              <a:spcAft>
                <a:spcPts val="700"/>
              </a:spcAft>
            </a:pPr>
            <a:r>
              <a:rPr sz="1250" b="1" i="0">
                <a:solidFill>
                  <a:srgbClr val="2C5F2D"/>
                </a:solidFill>
                <a:latin typeface="Calibri"/>
              </a:rPr>
              <a:t>•  </a:t>
            </a:r>
            <a:r>
              <a:rPr sz="1250" b="0" i="0">
                <a:solidFill>
                  <a:srgbClr val="1A1A19"/>
                </a:solidFill>
                <a:latin typeface="Calibri"/>
              </a:rPr>
              <a:t>Per-department deliverable tables; municipal cross-check of MapSPAM against INE 2023–25</a:t>
            </a:r>
          </a:p>
        </p:txBody>
      </p:sp>
      <p:sp>
        <p:nvSpPr>
          <p:cNvPr id="11" name="Rounded Rectangle 10"/>
          <p:cNvSpPr/>
          <p:nvPr/>
        </p:nvSpPr>
        <p:spPr>
          <a:xfrm>
            <a:off x="8046719" y="1325880"/>
            <a:ext cx="3566160" cy="489204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9" y="1463040"/>
            <a:ext cx="3200400" cy="548640"/>
          </a:xfrm>
          <a:prstGeom prst="rect">
            <a:avLst/>
          </a:prstGeom>
          <a:noFill/>
        </p:spPr>
        <p:txBody>
          <a:bodyPr wrap="square" lIns="0" rIns="0" tIns="0" bIns="0" anchor="t">
            <a:spAutoFit/>
          </a:bodyPr>
          <a:lstStyle/>
          <a:p>
            <a:pPr algn="l"/>
            <a:r>
              <a:rPr sz="1400" b="1" i="0">
                <a:solidFill>
                  <a:srgbClr val="EB6834"/>
                </a:solidFill>
                <a:latin typeface="Calibri"/>
              </a:rPr>
              <a:t>Decisions and requests</a:t>
            </a:r>
          </a:p>
        </p:txBody>
      </p:sp>
      <p:sp>
        <p:nvSpPr>
          <p:cNvPr id="13" name="TextBox 12"/>
          <p:cNvSpPr txBox="1"/>
          <p:nvPr/>
        </p:nvSpPr>
        <p:spPr>
          <a:xfrm>
            <a:off x="8229599" y="2057400"/>
            <a:ext cx="3200400" cy="4023360"/>
          </a:xfrm>
          <a:prstGeom prst="rect">
            <a:avLst/>
          </a:prstGeom>
          <a:noFill/>
        </p:spPr>
        <p:txBody>
          <a:bodyPr wrap="square" lIns="0" rIns="0" tIns="0" bIns="0" anchor="t">
            <a:spAutoFit/>
          </a:bodyPr>
          <a:lstStyle/>
          <a:p>
            <a:pPr algn="l">
              <a:spcAft>
                <a:spcPts val="700"/>
              </a:spcAft>
            </a:pPr>
            <a:r>
              <a:rPr sz="1250" b="1" i="0">
                <a:solidFill>
                  <a:srgbClr val="2C5F2D"/>
                </a:solidFill>
                <a:latin typeface="Calibri"/>
              </a:rPr>
              <a:t>•  </a:t>
            </a:r>
            <a:r>
              <a:rPr sz="1250" b="0" i="0">
                <a:solidFill>
                  <a:srgbClr val="1A1A19"/>
                </a:solidFill>
                <a:latin typeface="Calibri"/>
              </a:rPr>
              <a:t>INE departmental series 1984–2011 (only 2012–2024 in hand)</a:t>
            </a:r>
          </a:p>
          <a:p>
            <a:pPr algn="l">
              <a:spcAft>
                <a:spcPts val="700"/>
              </a:spcAft>
            </a:pPr>
            <a:r>
              <a:rPr sz="1250" b="1" i="0">
                <a:solidFill>
                  <a:srgbClr val="2C5F2D"/>
                </a:solidFill>
                <a:latin typeface="Calibri"/>
              </a:rPr>
              <a:t>•  </a:t>
            </a:r>
            <a:r>
              <a:rPr sz="1250" b="0" i="0">
                <a:solidFill>
                  <a:srgbClr val="1A1A19"/>
                </a:solidFill>
                <a:latin typeface="Calibri"/>
              </a:rPr>
              <a:t>SENAMHI/INIAF counterpart: station data after 2009, seasonal forecasts they already hold</a:t>
            </a:r>
          </a:p>
          <a:p>
            <a:pPr algn="l">
              <a:spcAft>
                <a:spcPts val="700"/>
              </a:spcAft>
            </a:pPr>
            <a:r>
              <a:rPr sz="1250" b="1" i="0">
                <a:solidFill>
                  <a:srgbClr val="2C5F2D"/>
                </a:solidFill>
                <a:latin typeface="Calibri"/>
              </a:rPr>
              <a:t>•  </a:t>
            </a:r>
            <a:r>
              <a:rPr sz="1250" b="0" i="0">
                <a:solidFill>
                  <a:srgbClr val="1A1A19"/>
                </a:solidFill>
                <a:latin typeface="Calibri"/>
              </a:rPr>
              <a:t>How the outlook is communicated: conditional distributions, never a single number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03120"/>
            <a:ext cx="10515600" cy="914400"/>
          </a:xfrm>
          <a:prstGeom prst="rect">
            <a:avLst/>
          </a:prstGeom>
          <a:noFill/>
        </p:spPr>
        <p:txBody>
          <a:bodyPr wrap="square" lIns="0" rIns="0" tIns="0" bIns="0" anchor="t">
            <a:spAutoFit/>
          </a:bodyPr>
          <a:lstStyle/>
          <a:p>
            <a:pPr algn="l"/>
            <a:r>
              <a:rPr sz="3400" b="1" i="0">
                <a:solidFill>
                  <a:srgbClr val="FFFFFF"/>
                </a:solidFill>
                <a:latin typeface="Cambria"/>
              </a:rPr>
              <a:t>Everything is reproducible and archived</a:t>
            </a:r>
          </a:p>
        </p:txBody>
      </p:sp>
      <p:sp>
        <p:nvSpPr>
          <p:cNvPr id="4" name="TextBox 3"/>
          <p:cNvSpPr txBox="1"/>
          <p:nvPr/>
        </p:nvSpPr>
        <p:spPr>
          <a:xfrm>
            <a:off x="731520" y="3200400"/>
            <a:ext cx="10515600" cy="2194560"/>
          </a:xfrm>
          <a:prstGeom prst="rect">
            <a:avLst/>
          </a:prstGeom>
          <a:noFill/>
        </p:spPr>
        <p:txBody>
          <a:bodyPr wrap="square" lIns="0" rIns="0" tIns="0" bIns="0" anchor="t">
            <a:spAutoFit/>
          </a:bodyPr>
          <a:lstStyle/>
          <a:p>
            <a:pPr algn="l">
              <a:spcAft>
                <a:spcPts val="600"/>
              </a:spcAft>
            </a:pPr>
            <a:r>
              <a:rPr sz="1300" b="1" i="0">
                <a:solidFill>
                  <a:srgbClr val="2C5F2D"/>
                </a:solidFill>
                <a:latin typeface="Calibri"/>
              </a:rPr>
              <a:t>•  </a:t>
            </a:r>
            <a:r>
              <a:rPr sz="1300" b="0" i="0">
                <a:solidFill>
                  <a:srgbClr val="FFFFFF"/>
                </a:solidFill>
                <a:latin typeface="Calibri"/>
              </a:rPr>
              <a:t>Code: github.com/jawoo/Tapiti (branch bolivia) — 10 Bolivia-specific commits, every switch defaults to upstream behaviour</a:t>
            </a:r>
          </a:p>
          <a:p>
            <a:pPr algn="l">
              <a:spcAft>
                <a:spcPts val="600"/>
              </a:spcAft>
            </a:pPr>
            <a:r>
              <a:rPr sz="1300" b="1" i="0">
                <a:solidFill>
                  <a:srgbClr val="2C5F2D"/>
                </a:solidFill>
                <a:latin typeface="Calibri"/>
              </a:rPr>
              <a:t>•  </a:t>
            </a:r>
            <a:r>
              <a:rPr sz="1300" b="0" i="0">
                <a:solidFill>
                  <a:srgbClr val="FFFFFF"/>
                </a:solidFill>
                <a:latin typeface="Calibri"/>
              </a:rPr>
              <a:t>Workspace: PLAN.md (decisions and findings), DATA-INVENTORY.md, HANDOFF.md, derived/ (inputs, sources, sensitivity tables), runs/ (every production run with manifest, config and summaries)</a:t>
            </a:r>
          </a:p>
          <a:p>
            <a:pPr algn="l">
              <a:spcAft>
                <a:spcPts val="600"/>
              </a:spcAft>
            </a:pPr>
            <a:r>
              <a:rPr sz="1300" b="1" i="0">
                <a:solidFill>
                  <a:srgbClr val="2C5F2D"/>
                </a:solidFill>
                <a:latin typeface="Calibri"/>
              </a:rPr>
              <a:t>•  </a:t>
            </a:r>
            <a:r>
              <a:rPr sz="1300" b="0" i="0">
                <a:solidFill>
                  <a:srgbClr val="FFFFFF"/>
                </a:solidFill>
                <a:latin typeface="Calibri"/>
              </a:rPr>
              <a:t>This deck: Phase 2 reference run 20261004-2232_v8_calib-round2, figures regenerated by analysis/deck_figures.py</a:t>
            </a:r>
          </a:p>
          <a:p>
            <a:pPr algn="l">
              <a:spcAft>
                <a:spcPts val="600"/>
              </a:spcAft>
            </a:pPr>
            <a:r>
              <a:rPr sz="1300" b="1" i="0">
                <a:solidFill>
                  <a:srgbClr val="2C5F2D"/>
                </a:solidFill>
                <a:latin typeface="Calibri"/>
              </a:rPr>
              <a:t>•  </a:t>
            </a:r>
            <a:r>
              <a:rPr sz="1300" b="0" i="0">
                <a:solidFill>
                  <a:srgbClr val="FFFFFF"/>
                </a:solidFill>
                <a:latin typeface="Calibri"/>
              </a:rPr>
              <a:t>Workspace repository: github.com/jawoo/bolivia-enso (private); Phase 5 runs archived under runs/phase5/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