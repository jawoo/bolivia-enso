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 (first run)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1.01</c:v>
                </c:pt>
                <c:pt idx="1">
                  <c:v>2.54</c:v>
                </c:pt>
                <c:pt idx="2">
                  <c:v>1.87</c:v>
                </c:pt>
                <c:pt idx="3">
                  <c:v>1.42</c:v>
                </c:pt>
                <c:pt idx="4">
                  <c:v>2.24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0.93</c:v>
                </c:pt>
                <c:pt idx="1">
                  <c:v>1.19</c:v>
                </c:pt>
                <c:pt idx="2">
                  <c:v>0.95</c:v>
                </c:pt>
                <c:pt idx="3">
                  <c:v>0.96</c:v>
                </c:pt>
                <c:pt idx="4">
                  <c:v>1.67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5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</c:v>
                </c:pt>
                <c:pt idx="1">
                  <c:v>0.61</c:v>
                </c:pt>
                <c:pt idx="2">
                  <c:v>0.58</c:v>
                </c:pt>
                <c:pt idx="3">
                  <c:v>0.81</c:v>
                </c:pt>
                <c:pt idx="4">
                  <c:v>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</c:v>
                </c:pt>
                <c:pt idx="1">
                  <c:v>0.42</c:v>
                </c:pt>
                <c:pt idx="2">
                  <c:v>0.66</c:v>
                </c:pt>
                <c:pt idx="3">
                  <c:v>0.76</c:v>
                </c:pt>
                <c:pt idx="4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Sorgo, kg/ha dry matter — ratio 0.96, r 0.76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2115.0</c:v>
                </c:pt>
                <c:pt idx="1">
                  <c:v>2010.0</c:v>
                </c:pt>
                <c:pt idx="2">
                  <c:v>2583.0</c:v>
                </c:pt>
                <c:pt idx="3">
                  <c:v>2468.0</c:v>
                </c:pt>
                <c:pt idx="4">
                  <c:v>1532.0</c:v>
                </c:pt>
                <c:pt idx="5">
                  <c:v>2318.0</c:v>
                </c:pt>
                <c:pt idx="6">
                  <c:v>2000.0</c:v>
                </c:pt>
                <c:pt idx="7">
                  <c:v>1904.0</c:v>
                </c:pt>
                <c:pt idx="8">
                  <c:v>2552.0</c:v>
                </c:pt>
                <c:pt idx="9">
                  <c:v>904.0</c:v>
                </c:pt>
                <c:pt idx="10">
                  <c:v>1436.0</c:v>
                </c:pt>
                <c:pt idx="11">
                  <c:v>2443.0</c:v>
                </c:pt>
                <c:pt idx="12">
                  <c:v>992.0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2537.0</c:v>
                </c:pt>
                <c:pt idx="1">
                  <c:v>1996.0</c:v>
                </c:pt>
                <c:pt idx="2">
                  <c:v>2616.0</c:v>
                </c:pt>
                <c:pt idx="3">
                  <c:v>2180.0</c:v>
                </c:pt>
                <c:pt idx="4">
                  <c:v>936.0</c:v>
                </c:pt>
                <c:pt idx="5">
                  <c:v>2468.0</c:v>
                </c:pt>
                <c:pt idx="6">
                  <c:v>1089.0</c:v>
                </c:pt>
                <c:pt idx="7">
                  <c:v>2009.0</c:v>
                </c:pt>
                <c:pt idx="8">
                  <c:v>2287.0</c:v>
                </c:pt>
                <c:pt idx="9">
                  <c:v>1378.0</c:v>
                </c:pt>
                <c:pt idx="10">
                  <c:v>966.0</c:v>
                </c:pt>
                <c:pt idx="11">
                  <c:v>2331.0</c:v>
                </c:pt>
                <c:pt idx="12">
                  <c:v>1367.0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Maíz, kg/ha dry matter — ratio 1.19, r 0.42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1689.0</c:v>
                </c:pt>
                <c:pt idx="1">
                  <c:v>1804.0</c:v>
                </c:pt>
                <c:pt idx="2">
                  <c:v>2080.0</c:v>
                </c:pt>
                <c:pt idx="3">
                  <c:v>1961.0</c:v>
                </c:pt>
                <c:pt idx="4">
                  <c:v>2143.0</c:v>
                </c:pt>
                <c:pt idx="5">
                  <c:v>2384.0</c:v>
                </c:pt>
                <c:pt idx="6">
                  <c:v>1846.0</c:v>
                </c:pt>
                <c:pt idx="7">
                  <c:v>2056.0</c:v>
                </c:pt>
                <c:pt idx="8">
                  <c:v>2687.0</c:v>
                </c:pt>
                <c:pt idx="9">
                  <c:v>2090.0</c:v>
                </c:pt>
                <c:pt idx="10">
                  <c:v>2251.0</c:v>
                </c:pt>
                <c:pt idx="11">
                  <c:v>1983.0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2467.0</c:v>
                </c:pt>
                <c:pt idx="1">
                  <c:v>2100.0</c:v>
                </c:pt>
                <c:pt idx="2">
                  <c:v>2331.0</c:v>
                </c:pt>
                <c:pt idx="3">
                  <c:v>1831.0</c:v>
                </c:pt>
                <c:pt idx="4">
                  <c:v>2983.0</c:v>
                </c:pt>
                <c:pt idx="5">
                  <c:v>2725.0</c:v>
                </c:pt>
                <c:pt idx="6">
                  <c:v>2826.0</c:v>
                </c:pt>
                <c:pt idx="7">
                  <c:v>2268.0</c:v>
                </c:pt>
                <c:pt idx="8">
                  <c:v>2742.0</c:v>
                </c:pt>
                <c:pt idx="9">
                  <c:v>2453.0</c:v>
                </c:pt>
                <c:pt idx="10">
                  <c:v>2604.0</c:v>
                </c:pt>
                <c:pt idx="11">
                  <c:v>2362.0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(INE Santa Cruz soya)</c:v>
                </c:pt>
              </c:strCache>
            </c:strRef>
          </c:tx>
          <c:spPr>
            <a:solidFill>
              <a:srgbClr val="1A1A19"/>
            </a:solidFill>
            <a:ln>
              <a:solidFill>
                <a:srgbClr val="1A1A19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-0.02</c:v>
                </c:pt>
                <c:pt idx="1">
                  <c:v>-0.51</c:v>
                </c:pt>
                <c:pt idx="2">
                  <c:v>-0.47</c:v>
                </c:pt>
                <c:pt idx="3">
                  <c:v>-0.38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(Tapiti)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</c:v>
                </c:pt>
                <c:pt idx="1">
                  <c:v>-0.27</c:v>
                </c:pt>
                <c:pt idx="2">
                  <c:v>-0.29</c:v>
                </c:pt>
                <c:pt idx="3">
                  <c:v>-0.54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8"/>
        </c:scaling>
        <c:delete val="0"/>
        <c:axPos val="b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4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report to the project lead. Phases 1 (inputs) and 2 (calibration) are complete; Phase 3 (historical ENSO assessment) starts next. All numbers in this deck are from the archived production run named in the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drives the plan: a retrospective product in March 2027 describes a harvest that has already happened, so the historical analogue product comes first. The forward estimate is a second, separable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closed as a calibration round; it can be reopened if Phase 3 shows a specific weakness. Potato and quinoa remain out of scope (no module wired / no DSSAT module).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MapSPAM totals match INE national areas (soya 1.39 Mha, maize 0.42, sorghum 0.44, wheat 0.18, rice 0.17). The municipal cross-check of MapSPAM against INE 2023-25 municipal data is still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reproducible from scripts in the workspace: prep/gen_weather_bolivia.py, build_soil_bolivia.py, build_unit_information_bolivia.py; sources in derived/SOURCES-management.md.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config switches defaulting to upstream behaviour, so Tokki results are reproducible from the same code. The N-column finding also applies to the US production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sensitivity table is in PLAN.md 7.3. Initial mineral N is a strong lever once the fallow is short, and its unit matters: 1 ppm over a 2 m profile is about 27 kg N/ha. The adopted default is 0.3/0.7 ppm.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calibration kept skill for rice, sorghum and wheat. Soya drifted down (0.37 to 0.28) with the shorter pre-season and maize from 0.61 to 0.42 across the two calibration rounds; a factorial on 300 Santa Cruz maize cells gave anomaly correlations of 0.30-0.41 for every combination of start date and cultivar, i.e. within the noise of 12 years. Phase 3 tests the anomaly response on the 42-year record against ENSO, not only against 12 years of 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Sowing-year labels: a verano campaign sown in 2015 is 2015/16; invierno sorghum is labelled by its calendar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Anomalies are relative to each cell's own 1983–2024 mean. 1982/83 is outside the simulated record (weather starts 1981, sowing 1983).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preview, not the Phase 3 result: composites by ENSO phase with uncertainty, per crop and department, come next. Note the asymmetry: La Niña campaigns are mildly positive for maize (wetter Santa Cruz), strong El Niño strongly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report: documents/Phase3-ENSO-hindcast_2026-10-05.md. Detrended national anomalies, bootstrap intervals over years within phase. The strong-EP composites rest on three events; report them as what happened in those campaigns, not as a climatological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points; indicative, not significant. The conclusion is about mechanism, not sample size: the lowland El Niño impact on soya runs through excess water, which DSSAT handles poorly, as the plan said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limitations the plan listed before Phase 1 started; the calibration work sharpened rather than removed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is the first deliverable and a coherent product on its own. The potato question is the one scope decision that changes the Altiplano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Contact: the IFPRI Bolivia ENSO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Simulating El Niño impacts on Bolivian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97BC62"/>
                </a:solidFill>
                <a:latin typeface="Calibri"/>
              </a:rPr>
              <a:t>Progress report — Phases 1 and 2 of the Tapiti gridded-DSSAT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IFPRI  ·  5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BC62"/>
                </a:solidFill>
                <a:latin typeface="Calibri"/>
              </a:rPr>
              <a:t>Tapiti: a Bolivia fork of Tokki, named after the tapití, Bolivia's native cottontail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Why now: the season this El Niño will hit is being sown this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CPC El Niño Advisory (Sep 2026):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&gt;90% chance of a very strong event; Niño-1+2 at +3.4 °C, the eastern-Pacific signature of 1982/83, 1997/98 and 2015/16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Campaña verano sows Sep–Dec: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maíz and arroz from September, soya from November — the exposure window is Oct–Apr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1 (weeks):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historical-analogue product — what happened to simulated and observed yields in past El Niño campaigns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2 (separable):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forward estimate for 2026/27 driven by analogue weather and seasonal forecasts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25880"/>
            <a:ext cx="4846320" cy="448056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The Tapiti hindcast, 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crops: soya, maíz, arroz, sorgo, trigo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3,469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5-arcmin grid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campaigns, 1983/84 – 2024/25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382k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DSSAT seasons per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8463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Weather per cell from NASA POWER (MERRA-2), soils from ISRIC SoilGrids + HC27, areas from MapSPAM 2020, calibration against INE departmental statistics 2012–2024.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Where we are: inputs and calibration done, ENSO assessment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Scaffold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Fork Tokki → Tapiti; smoke test on real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Weather, soil, management, cultivars, unit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Boundary conditions and yield levels vs 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63040"/>
            <a:ext cx="2176272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ENSO hindcast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Composites by ENSO phase, 1983–2024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Calibri"/>
              </a:rPr>
              <a:t>Starting now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1463040"/>
            <a:ext cx="2176272" cy="73152"/>
          </a:xfrm>
          <a:prstGeom prst="rect">
            <a:avLst/>
          </a:prstGeom>
          <a:solidFill>
            <a:srgbClr val="9B9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Forward 2026/27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Analogue weather + seasonal forecasts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B9A94"/>
                </a:solidFill>
                <a:latin typeface="Calibri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What changed since the plan was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The tool is now Tapiti (github.com/jawoo/Tapiti): a renamed fork of Tokki with the US-only material removed, 10 commits of Bolivia-specific changes, every run archived with a manifest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Two inherited assumptions had to be reworked before calibration made sense: how rice is grown, and when a season starts (slides 7–8)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Soya — 1.4 Mha and the Santa Cruz economy — turns out to be the crop the water-balance model explains least (slide 12)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spatial frame: 3,469 cells, five crops, three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map_cells_domina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437871" cy="4846320"/>
          </a:xfrm>
          <a:prstGeom prst="rect">
            <a:avLst/>
          </a:prstGeom>
        </p:spPr>
      </p:pic>
      <p:pic>
        <p:nvPicPr>
          <p:cNvPr id="6" name="Picture 5" descr="map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443787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Cells: MapSPAM 2020 harvested area ≥25 ha. Zones: cell-mean elevation from the NASA POWER DEM. Boundaries: geoBoundaries ADM1.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371600"/>
            <a:ext cx="18288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Cells with ≥25 ha of an in-scope crop in MapSPAM 2020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Soya and sorgo in the Santa Cruz plain; maíz in the valleys; trigo valleys and Altiplano; arroz in Beni and the Norte Integrado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Zone by cell elevation sets season, management class and cultivar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141 rice/soya records above 2,800 m dropped as MapSPAM allocation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1 inputs: what was built and where it is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258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258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Known weakness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36775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09928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NASA POWER (MERRA-2 0.5°) daily per cell, 1981–2026; 1981–83 radiation estimated from temperature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0992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Reanalysis rainfall in complex terrain; 0.5° grid vs 5-arcmin cells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9463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42615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42615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ISRIC SoilGrids + HC27 profiles, the same library as the US work; 10 edge cells filled from neighbours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42615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Rooting depth 200 cm everywhere; organic carbon drives mineralised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02152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75304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Zone × crop × season table from ANAPO, CIAT, INIAF, MDRyT, CIPCA, Censo 2013, FAOSTAT — sources documented figure by figure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75304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No national survey; rows marked "fill" copy a neighbour; sowing windows capped by a model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07992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07992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Dominant campaign per department from INE 2012–24: verano for soya/rice, invierno for Santa Cruz sorgo and trigo, verano for highland trigo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507992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One season per crop per cell; soya invierno (23%) not simulated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67528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Cultivars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440680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Explicit per cell: Bolivia zone cultivars for maíz, arroz, sorgo; DSSAT generics for soya (MG 8) and trigo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4068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Level-calibrated, not variety-specific; trigo uncalibrated (slide 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Tapiti: four inherited assumptions that did not transfer from the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Rice was paddy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Tokki wrote every rice run as transplanted, puddled, flooded paddy. Bolivian rice is ~90% direct-seeded secano. Tapiti adds an upland mode; rainfed rice now runs like any rainfed crop.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riceSystem: upland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The wrong N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With the override on, Tokki applies the recommended N rate and never reads the farmer rate. A hindcast needs farmer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nitrogenRateSource: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Seasons started on 1 January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A verano crop sat behind ten months of bare fallow in which soil carbon mineralised 150–250 kg N/ha that nothing took up. Tapiti starts 60 days before sowing with explicit initial soil water and mineral 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simulationStartDaysBeforePlanting: 60  ·  initialSoilWaterFraction: 0.5  ·  initialSoilN: 0.3/0.7 ppm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US cultivars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US-calibrated maize generics have kernel number and fill rate 25–65% above stock DSSAT. Bolivia zone cultivars replace them for maíz, arroz and sorgo.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BOL LOWLAND · BOL VALLEYS · BOL ALTIPLANO · BOL SECANO · BOL GRANIFERO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Every switch defaults to upstream behaviour, so Tokki results stay reproducible from the same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Yield levels: from 2–2.5× too high to within 10% for three of five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Simulated ÷ observed national yield, dry matter, sowing years 2012–2024 (1.0 = INE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What was wrong: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1 January start, not the management table. Starting 60 days before sowing halved mineralised N and removed most of the bias on its own (60-cell sensitivity, 14 setups).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Then cultivars: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yield components set against INE by zone on department samples. Maíz is 1.19 nationally but ~1.0 in Santa Cruz, Tarija, Beni and Pando; the excess is in valley and Altiplano departments whose 1.0–1.3 t/ha the model does not reach down to.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Trigo stays 1.7×: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no genetic coefficient tested moves it. Blast, hail, frost and poor stands are the missing processes; handled as a bias factor, not hidden.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was right from the start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(it fixes its own N) — which is why its level never moved.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Year-to-year skill: the weather signal is live for the lowland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simulated and INE national yield anomalies, 12–13 overlapping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Sorgo and trigo in Santa Cruz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track INE at 0.76 and 0.71 — the invierno crops read the autumn rainfall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Arroz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improved to 0.66; maíz slipped from 0.61 to 0.42 as its level was fixed — twelve years cannot say whether that is real, and valley and Altiplano maize carry almost no signal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is the weak crop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(0.28) despite the right level — slide 12 explains why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Caveat: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twelve years is a short record; these correlations have wide intervals and say the mechanism is live, not that the model is validated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Model against INE, 2012–2024: sorgo and maíz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Sorgo invierno is the cleanest test: sown Apr–Jun on residual moisture, its 2016 and 2021–22 collapses are reproduced. Maíz verano follows the same drought years (2015/16, 2023/24) with less fidelity in the valleys.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INE departmental series exist only from 2012; the 1984–2011 series needed for a longer validation has been requested.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model sees the El Niño droughts in the Santa Cruz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map_anom_maize_elnino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782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Simulated maíz yield anomaly per cell in the three strong eastern-Pacific El Niño campaigns since 1983. Santa Cruz loses 20–60%; the Altiplano and valleys show a weaker and sometimes opposite response, consistent with the literature's "drier highlands, wetter/variable lowlands" picture only in part — Phase 3 tests this properly, per crop and per zone.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Preview: strong El Niño campaigns are the lowest simulated maíz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chart_enso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696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Detrended national anomalies vs the DJF Oceanic Niño Index. Simulated soya carries a downward trend of 1.2% per year linked to rising maximum temperatures in the reanalysis, which INE does not show — a Phase 3 check before any composite is quoted.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3, first pass: the signal is in the strong eastern-Pacific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chart_phase_composites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302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El Niño as a class does nothing to the verano crops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(soya, maíz, arroz within ±2% of neutral over 14 campaigns); the three eastern-Pacific analogues 1997/98, 2015/16 and 2023/24 cost them 18–20% nationally, intervals excluding zero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 invierno crops gain during the El Niño build-up: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sorgo +26%, trigo +13% in the winter before the peak; the developing La Niña costs sorgo −15%. The observed record agrees where it overlaps: 2023/24 matches on every crop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Central-Pacific events (1991/92, 2009/10) are not drought years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in the data or the model — the 2026/27 event (Niño-1+2 ≈ +3.4 °C) must be read against the EP analogues only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SENAMHI stations confirm the El Niño drying of the Altiplano (−11%)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that the reanalysis only half reproduces; the highlands stay unresolved by this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Soya: right level, wrong weather response — a structural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Santa Cruz soya yield with Nov–Mar weather indicators, sowing years 2012–2023 (n =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023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Observed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is indifferent to rainfall total and loses to heavy-rain days, dry spells and heat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Simulated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loves rainfall and gains from wet days; it gets dry spells and heat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Why: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water-balance model has no waterlogging or harvest-loss channel, and the deep HC27 profiles never saturate — a 1 m rooting depth and slow drainage did not change the sign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For Phase 3: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use the model for the drought and heat channels and add a statistical excess-rain term fitted on the INE overlap, reported separately and labelled as such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What these results cannot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area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DSSAT simulates yield on planted area. Farmers plant less or switch crop after a failed onset; that channel is often larger than the yield channel and is outside this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floods, hail, frost damage, pests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Excess-rain losses in the lowlands and hail/frost in the highlands are systematically under-estimated; wheat and soya show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Reanalysis weather in the Andes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MERRA-2 at 0.5° in complex terrain; Altiplano maize fails in 42% of simulated seasons, partly real, partly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Levels are calibrated, anomalies are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Relative anomalies (% of normal) are the defensible output; absolute tonnes are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potato or quinoa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Altiplano, where the El Niño drought story is usually told, is represented by valley maíz and highland trigo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Twelve years of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INE departmental data run 2012–2024; every skill number here has a wide interval.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Next: the historical ENSO assessment, then the 2026/27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Phase 3 — ENSO hindcast (1–2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Classify the 42 campaigns by ONI and by the Niño-1+2 eastern-Pacific signature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Composite simulated anomalies by phase, per crop × department × zone, with bootstrap intervals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Side by side with INE 2012–2024 and with the SENAMHI station rainfall, kept as independent evidence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Detrend and document the simulated soya trend before quoting anything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Statistical excess-rain term for soya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Phase 4 — 2026/27 (2–3 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Analogue resampling: drive the 2026/27 season with 1997/98, 2015/16, 2023/24 weather on the actual sowing calendar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Seasonal-forecast-driven variant via the C3S path (ECMWF/NCEP/JMA ensembles SENAMHI already holds)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Monthly updates as the season unfolds: observed-to-date + forecast forward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Decisions and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INE departmental series 1984–2011 (only 2012–2024 in hand)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SENAMHI/INIAF counterpart for station data and seasonal forecasts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Potato (SUBSTOR) for the Altiplano: 1–2 weeks of module work — worth it before Phase 4?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Municipal cross-check of MapSPAM against INE 2023–25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Everything is reproducible and archived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Code: github.com/jawoo/Tapiti (branch bolivia) — 10 Bolivia-specific commits, every switch defaults to upstream behaviour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Workspace: PLAN.md (decisions and findings), DATA-INVENTORY.md, HANDOFF.md, derived/ (inputs, sources, sensitivity tables), runs/ (every production run with manifest, config and summaries)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This deck: Phase 2 reference run 20261004-2232_v8_calib-round2, figures regenerated by analysis/deck_figures.py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